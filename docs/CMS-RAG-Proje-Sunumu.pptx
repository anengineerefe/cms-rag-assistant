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675120" y="1005840"/>
            <a:ext cx="5120640" cy="0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675120" y="1005840"/>
            <a:ext cx="0" cy="3950208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33488" y="1005840"/>
            <a:ext cx="4462272" cy="658368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75120" y="1664208"/>
            <a:ext cx="658368" cy="3291840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91856" y="1005840"/>
            <a:ext cx="3803904" cy="1316736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2322576"/>
            <a:ext cx="1316736" cy="2633472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50224" y="1005840"/>
            <a:ext cx="3145536" cy="1975104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0" y="2980944"/>
            <a:ext cx="1975104" cy="1975104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08592" y="1005840"/>
            <a:ext cx="2487168" cy="2633472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3639312"/>
            <a:ext cx="2633472" cy="1316736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59" y="1005840"/>
            <a:ext cx="1828801" cy="3291839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4297679"/>
            <a:ext cx="3291839" cy="658369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25328" y="1005840"/>
            <a:ext cx="1170432" cy="3950208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75120" y="4956048"/>
            <a:ext cx="3950208" cy="0"/>
          </a:xfrm>
          <a:prstGeom prst="line">
            <a:avLst/>
          </a:prstGeom>
          <a:ln w="12700">
            <a:solidFill>
              <a:srgbClr val="17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26780" y="1668780"/>
            <a:ext cx="685800" cy="6858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869680" y="2011680"/>
            <a:ext cx="0" cy="0"/>
          </a:xfrm>
          <a:prstGeom prst="line">
            <a:avLst/>
          </a:prstGeom>
          <a:ln w="127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84664" y="2752344"/>
            <a:ext cx="438912" cy="43891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011680"/>
            <a:ext cx="1234440" cy="960120"/>
          </a:xfrm>
          <a:prstGeom prst="line">
            <a:avLst/>
          </a:prstGeom>
          <a:ln w="127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29015" y="3941063"/>
            <a:ext cx="384048" cy="38404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8321040" y="2011680"/>
            <a:ext cx="548640" cy="2121407"/>
          </a:xfrm>
          <a:prstGeom prst="line">
            <a:avLst/>
          </a:prstGeom>
          <a:ln w="127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661904" y="4535424"/>
            <a:ext cx="256032" cy="25603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869680" y="2011680"/>
            <a:ext cx="1920240" cy="2651760"/>
          </a:xfrm>
          <a:prstGeom prst="line">
            <a:avLst/>
          </a:prstGeom>
          <a:ln w="127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1325880"/>
            <a:ext cx="5669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7FBFC"/>
                </a:solidFill>
                <a:latin typeface="Aptos Display"/>
              </a:rPr>
              <a:t>CMS-RAG
ASİSTANI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090672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9BBC5"/>
                </a:solidFill>
                <a:latin typeface="Aptos"/>
              </a:rPr>
              <a:t>Savaş Yönetim Sistemi bilgi erişiminde
yerel, kaynak gösteren ve denetlenebilir yapay zekâ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42816"/>
            <a:ext cx="1234440" cy="310896"/>
          </a:xfrm>
          <a:prstGeom prst="roundRect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88536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F33"/>
                </a:solidFill>
                <a:latin typeface="Aptos"/>
              </a:rPr>
              <a:t>ADVENT CMS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84831" y="4242816"/>
            <a:ext cx="1325880" cy="310896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1" y="428853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F33"/>
                </a:solidFill>
                <a:latin typeface="Aptos"/>
              </a:rPr>
              <a:t>HYBRID RAG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7872" y="4242816"/>
            <a:ext cx="1463040" cy="310896"/>
          </a:xfrm>
          <a:prstGeom prst="round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428853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F33"/>
                </a:solidFill>
                <a:latin typeface="Aptos"/>
              </a:rPr>
              <a:t>ON-PREMISE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0807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BC5"/>
                </a:solidFill>
                <a:latin typeface="Aptos"/>
              </a:rPr>
              <a:t>Proje Sunumu •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Problem: Bilgi Çok, Güvenilir Erişim Zor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9BBC5"/>
                </a:solidFill>
                <a:latin typeface="Aptos"/>
              </a:rPr>
              <a:t>CMS dokümanları kritik, dağınık ve yüksek doğruluk gerektiriyor.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28800"/>
            <a:ext cx="3474720" cy="192024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828800"/>
            <a:ext cx="64008" cy="1920240"/>
          </a:xfrm>
          <a:prstGeom prst="rect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482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BE4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48256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Dağınık Bilgi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32888"/>
            <a:ext cx="29626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Broşürler, teknik kılavuzlar, standartlar ve kamu referansları farklı yerlerde bulunur.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28800"/>
            <a:ext cx="3474720" cy="192024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28800"/>
            <a:ext cx="64008" cy="1920240"/>
          </a:xfrm>
          <a:prstGeom prst="rect">
            <a:avLst/>
          </a:prstGeom>
          <a:solidFill>
            <a:srgbClr val="E95C65"/>
          </a:solidFill>
          <a:ln>
            <a:solidFill>
              <a:srgbClr val="E95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0482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E95C65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Kaynak Riski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32888"/>
            <a:ext cx="29626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Genel amaçlı LLM'ler, doğrulanmamış veya kaynaksız içerik üretebilir.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828800"/>
            <a:ext cx="3474720" cy="192024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828800"/>
            <a:ext cx="64008" cy="1920240"/>
          </a:xfrm>
          <a:prstGeom prst="rect">
            <a:avLst/>
          </a:prstGeom>
          <a:solidFill>
            <a:srgbClr val="A26EEA"/>
          </a:solidFill>
          <a:ln>
            <a:solidFill>
              <a:srgbClr val="A26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20482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A26EEA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1" y="2048256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Gizlilik Riski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2532888"/>
            <a:ext cx="296265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Hassas/kurumsal verinin haricî servislerle paylaşılması kabul edilemez.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434840"/>
            <a:ext cx="9418320" cy="822960"/>
          </a:xfrm>
          <a:prstGeom prst="roundRect">
            <a:avLst/>
          </a:prstGeom>
          <a:solidFill>
            <a:srgbClr val="102A41"/>
          </a:solidFill>
          <a:ln>
            <a:solidFill>
              <a:srgbClr val="1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66344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0D5D5"/>
                </a:solidFill>
                <a:latin typeface="Aptos"/>
              </a:rPr>
              <a:t>Hedef: Doğru bilgiye, doğru kaynakla ve doğru güven sınırı içinde erişim.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Çözüm: Kanıt Tabanlı Yerel Asistan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Oval 6"/>
          <p:cNvSpPr/>
          <p:nvPr/>
        </p:nvSpPr>
        <p:spPr>
          <a:xfrm>
            <a:off x="1453896" y="1691640"/>
            <a:ext cx="960120" cy="96012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3896" y="1929384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BFC"/>
                </a:solidFill>
                <a:latin typeface="Aptos"/>
              </a:rPr>
              <a:t>TOPLA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375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9BBC5"/>
                </a:solidFill>
                <a:latin typeface="Aptos"/>
              </a:rPr>
              <a:t>Onaylı kaynaklar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2167128"/>
            <a:ext cx="850392" cy="0"/>
          </a:xfrm>
          <a:prstGeom prst="line">
            <a:avLst/>
          </a:prstGeom>
          <a:ln w="254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306824" y="1691640"/>
            <a:ext cx="960120" cy="96012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29384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9260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BFC"/>
                </a:solidFill>
                <a:latin typeface="Aptos"/>
              </a:rPr>
              <a:t>BUL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33375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9BBC5"/>
                </a:solidFill>
                <a:latin typeface="Aptos"/>
              </a:rPr>
              <a:t>Hibrit arama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31536" y="2167128"/>
            <a:ext cx="850392" cy="0"/>
          </a:xfrm>
          <a:prstGeom prst="line">
            <a:avLst/>
          </a:prstGeom>
          <a:ln w="254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59752" y="1691640"/>
            <a:ext cx="960120" cy="96012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1929384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9260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BFC"/>
                </a:solidFill>
                <a:latin typeface="Aptos"/>
              </a:rPr>
              <a:t>SEÇ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3375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9BBC5"/>
                </a:solidFill>
                <a:latin typeface="Aptos"/>
              </a:rPr>
              <a:t>Reranking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167128"/>
            <a:ext cx="850392" cy="0"/>
          </a:xfrm>
          <a:prstGeom prst="line">
            <a:avLst/>
          </a:prstGeom>
          <a:ln w="254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012680" y="1691640"/>
            <a:ext cx="960120" cy="960120"/>
          </a:xfrm>
          <a:prstGeom prst="ellipse">
            <a:avLst/>
          </a:prstGeom>
          <a:solidFill>
            <a:srgbClr val="47D18C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929384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9260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BFC"/>
                </a:solidFill>
                <a:latin typeface="Aptos"/>
              </a:rPr>
              <a:t>YANITLA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3375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9BBC5"/>
                </a:solidFill>
                <a:latin typeface="Aptos"/>
              </a:rPr>
              <a:t>Yerel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4572000"/>
            <a:ext cx="8092440" cy="105156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57400" y="4572000"/>
            <a:ext cx="64008" cy="10515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95144" y="47914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7208" y="4791456"/>
            <a:ext cx="7159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Çıktı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5276088"/>
            <a:ext cx="7580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Teknik, kısa ve kaynakları görünür yanıt. Kullanıcı belge, sayfa ve alaka skorunu doğrudan görür.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Kurumsal Mimari: İki Koleksiyon, Tek Orkestrasyon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377440" cy="118872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188720"/>
          </a:xfrm>
          <a:prstGeom prst="rect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2821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0D5D5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28216"/>
            <a:ext cx="1444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HAVELSAN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1865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Resmî ADVENT broşürleri
ve yetkili dokümanlar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08960"/>
            <a:ext cx="2377440" cy="118872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108960"/>
            <a:ext cx="64008" cy="1188720"/>
          </a:xfrm>
          <a:prstGeom prst="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2841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7D18C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28416"/>
            <a:ext cx="1444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Açık / Kamu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13048"/>
            <a:ext cx="1865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NATO, NISP ve
doğrulanmış referanslar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90672" y="2103120"/>
            <a:ext cx="859536" cy="594360"/>
          </a:xfrm>
          <a:prstGeom prst="line">
            <a:avLst/>
          </a:prstGeom>
          <a:ln w="254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090672" y="3017520"/>
            <a:ext cx="859536" cy="685800"/>
          </a:xfrm>
          <a:prstGeom prst="line">
            <a:avLst/>
          </a:prstGeom>
          <a:ln w="25400">
            <a:solidFill>
              <a:srgbClr val="47D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77639" y="2057400"/>
            <a:ext cx="2286000" cy="1554480"/>
          </a:xfrm>
          <a:prstGeom prst="roundRect">
            <a:avLst/>
          </a:prstGeom>
          <a:solidFill>
            <a:srgbClr val="102F4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2432304"/>
            <a:ext cx="19202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7FBFC"/>
                </a:solidFill>
                <a:latin typeface="Aptos"/>
              </a:rPr>
              <a:t>CMS
KNOWLEDGE BASE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7648" y="2834640"/>
            <a:ext cx="786384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59752" y="1463040"/>
            <a:ext cx="1920240" cy="118872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59752" y="1463040"/>
            <a:ext cx="64008" cy="118872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168249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682496"/>
            <a:ext cx="9875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Hybrid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4" y="2167128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FAISS + BM25
Aday bulma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9752" y="3090672"/>
            <a:ext cx="1920240" cy="118872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59752" y="3090672"/>
            <a:ext cx="64008" cy="1188720"/>
          </a:xfrm>
          <a:prstGeom prst="rect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97496" y="3310128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BE4A"/>
                </a:solidFill>
                <a:latin typeface="Aptos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310128"/>
            <a:ext cx="9875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Reranker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4" y="3794760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Cross-encoder
En iyi bağlam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0" y="2057400"/>
            <a:ext cx="603504" cy="621792"/>
          </a:xfrm>
          <a:prstGeom prst="line">
            <a:avLst/>
          </a:prstGeom>
          <a:ln w="25400">
            <a:solidFill>
              <a:srgbClr val="40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144000" y="3035808"/>
            <a:ext cx="603504" cy="649224"/>
          </a:xfrm>
          <a:prstGeom prst="line">
            <a:avLst/>
          </a:prstGeom>
          <a:ln w="25400">
            <a:solidFill>
              <a:srgbClr val="F8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84080" y="2057400"/>
            <a:ext cx="1828800" cy="155448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057400"/>
            <a:ext cx="64008" cy="1554480"/>
          </a:xfrm>
          <a:prstGeom prst="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1824" y="22768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7D18C"/>
                </a:solidFill>
                <a:latin typeface="Aptos"/>
              </a:rPr>
              <a:t>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3888" y="2276856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Ollama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2761488"/>
            <a:ext cx="131673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Qwen 2.5:3b
Yerel yanıt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6636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D5D5"/>
                </a:solidFill>
                <a:latin typeface="Aptos"/>
              </a:rPr>
              <a:t>Resmî bilgi, genel referanslardan hiçbir zaman sessizce karışmaz.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Veri Yönetişimi ve Güven Sınırı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9BBC5"/>
                </a:solidFill>
                <a:latin typeface="Aptos"/>
              </a:rPr>
              <a:t>Koleksiyon ayrımı; erişim kalitesinin yanında denetlenebilirlik için tasarım kararıdır.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520440" cy="196596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64008" cy="1965960"/>
          </a:xfrm>
          <a:prstGeom prst="rect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0D5D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48256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Resmî Koleksiyon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3008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• collection: havelsan
• authority: official
• Ürün iddiaları için birincil kaynak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20440" cy="196596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64008" cy="1965960"/>
          </a:xfrm>
          <a:prstGeom prst="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482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7D18C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048256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Kamu Referansları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32888"/>
            <a:ext cx="3008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• collection: open_source
• NATO/NISP bağlamı
• Standart ve kavram açıklamaları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828800"/>
            <a:ext cx="3520440" cy="196596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828800"/>
            <a:ext cx="64008" cy="1965960"/>
          </a:xfrm>
          <a:prstGeom prst="rect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0482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BE4A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2048256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Kurum İçi Belgeler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2532888"/>
            <a:ext cx="30083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• collection: uploaded
• Onay ve sınıflandırma gerekir
• İzinli yerel ortam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526280"/>
            <a:ext cx="9738360" cy="822960"/>
          </a:xfrm>
          <a:prstGeom prst="roundRect">
            <a:avLst/>
          </a:prstGeom>
          <a:solidFill>
            <a:srgbClr val="102A41"/>
          </a:solidFill>
          <a:ln>
            <a:solidFill>
              <a:srgbClr val="1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773168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7FBFC"/>
                </a:solidFill>
                <a:latin typeface="Aptos"/>
              </a:rPr>
              <a:t>Her parça: belge adı • kaynak yolu • koleksiyon • otorite • sayfa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RAG Hattı: Neden Hibrit Arama ve Reranking?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508760" cy="932688"/>
          </a:xfrm>
          <a:prstGeom prst="roundRect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Aptos"/>
              </a:rPr>
              <a:t>PDF / 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1868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FBFC"/>
                </a:solidFill>
                <a:latin typeface="Aptos"/>
              </a:rPr>
              <a:t>Yükleme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29968" y="2523744"/>
            <a:ext cx="320040" cy="0"/>
          </a:xfrm>
          <a:prstGeom prst="line">
            <a:avLst/>
          </a:prstGeom>
          <a:ln w="25400">
            <a:solidFill>
              <a:srgbClr val="A9BB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23160" y="2057400"/>
            <a:ext cx="1508760" cy="93268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3042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Aptos"/>
              </a:rPr>
              <a:t>900 / 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1868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FBFC"/>
                </a:solidFill>
                <a:latin typeface="Aptos"/>
              </a:rPr>
              <a:t>Parçalama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0208" y="2523744"/>
            <a:ext cx="320040" cy="0"/>
          </a:xfrm>
          <a:prstGeom prst="line">
            <a:avLst/>
          </a:prstGeom>
          <a:ln w="25400">
            <a:solidFill>
              <a:srgbClr val="A9BB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2057400"/>
            <a:ext cx="1508760" cy="932688"/>
          </a:xfrm>
          <a:prstGeom prst="round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3042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Aptos"/>
              </a:rPr>
              <a:t>BGE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1868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FBFC"/>
                </a:solidFill>
                <a:latin typeface="Aptos"/>
              </a:rPr>
              <a:t>Embedding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0448" y="2523744"/>
            <a:ext cx="320040" cy="0"/>
          </a:xfrm>
          <a:prstGeom prst="line">
            <a:avLst/>
          </a:prstGeom>
          <a:ln w="25400">
            <a:solidFill>
              <a:srgbClr val="A9BB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2057400"/>
            <a:ext cx="1508760" cy="932688"/>
          </a:xfrm>
          <a:prstGeom prst="roundRect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Aptos"/>
              </a:rPr>
              <a:t>FAISS + BM25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1868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FBFC"/>
                </a:solidFill>
                <a:latin typeface="Aptos"/>
              </a:rPr>
              <a:t>Hibrit Arama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0688" y="2523744"/>
            <a:ext cx="320040" cy="0"/>
          </a:xfrm>
          <a:prstGeom prst="line">
            <a:avLst/>
          </a:prstGeom>
          <a:ln w="25400">
            <a:solidFill>
              <a:srgbClr val="A9BB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83880" y="2057400"/>
            <a:ext cx="1508760" cy="932688"/>
          </a:xfrm>
          <a:prstGeom prst="roundRect">
            <a:avLst/>
          </a:prstGeom>
          <a:solidFill>
            <a:srgbClr val="E95C65"/>
          </a:solidFill>
          <a:ln>
            <a:solidFill>
              <a:srgbClr val="E95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3042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Aptos"/>
              </a:rPr>
              <a:t>Cross 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1868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FBFC"/>
                </a:solidFill>
                <a:latin typeface="Aptos"/>
              </a:rPr>
              <a:t>Reranking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10928" y="2523744"/>
            <a:ext cx="320040" cy="0"/>
          </a:xfrm>
          <a:prstGeom prst="line">
            <a:avLst/>
          </a:prstGeom>
          <a:ln w="25400">
            <a:solidFill>
              <a:srgbClr val="A9BB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04120" y="2057400"/>
            <a:ext cx="1508760" cy="932688"/>
          </a:xfrm>
          <a:prstGeom prst="roundRect">
            <a:avLst/>
          </a:prstGeom>
          <a:solidFill>
            <a:srgbClr val="A26EEA"/>
          </a:solidFill>
          <a:ln>
            <a:solidFill>
              <a:srgbClr val="A26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23042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Aptos"/>
              </a:rPr>
              <a:t>Qwen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21868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7FBFC"/>
                </a:solidFill>
                <a:latin typeface="Aptos"/>
              </a:rPr>
              <a:t>Yerel Yanıt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43400"/>
            <a:ext cx="5074920" cy="1078992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343400"/>
            <a:ext cx="64008" cy="107899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" y="45628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4562856"/>
            <a:ext cx="41422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Dense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" y="5047488"/>
            <a:ext cx="456285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Anlamsal yakınlığı yakalar: kullanıcı farklı kelimeler kullansa bile uygun bağlamı bulur.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43400"/>
            <a:ext cx="5074920" cy="1078992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343400"/>
            <a:ext cx="64008" cy="1078992"/>
          </a:xfrm>
          <a:prstGeom prst="rect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5628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8BE4A"/>
                </a:solidFill>
                <a:latin typeface="Aptos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562856"/>
            <a:ext cx="41422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BM25 + Reranking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47488"/>
            <a:ext cx="456285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Taktik terim eşleşmesini korur ve en güçlü kanıt parçalarını üst sıraya taşır.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Güvenlik ve Gizlilik: On-Premise Tasarım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Hexagon 6"/>
          <p:cNvSpPr/>
          <p:nvPr/>
        </p:nvSpPr>
        <p:spPr>
          <a:xfrm>
            <a:off x="868680" y="1600200"/>
            <a:ext cx="2331720" cy="2331720"/>
          </a:xfrm>
          <a:prstGeom prst="hexagon">
            <a:avLst/>
          </a:prstGeom>
          <a:solidFill>
            <a:srgbClr val="102F4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167128"/>
            <a:ext cx="1828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40D5D5"/>
                </a:solidFill>
                <a:latin typeface="Aptos"/>
              </a:rPr>
              <a:t>LOCAL
ONLY</a:t>
            </a:r>
          </a:p>
        </p:txBody>
      </p:sp>
      <p:sp>
        <p:nvSpPr>
          <p:cNvPr id="9" name="Oval 8"/>
          <p:cNvSpPr/>
          <p:nvPr/>
        </p:nvSpPr>
        <p:spPr>
          <a:xfrm>
            <a:off x="3886200" y="1325880"/>
            <a:ext cx="484632" cy="484632"/>
          </a:xfrm>
          <a:prstGeom prst="ellipse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408176"/>
            <a:ext cx="4846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34416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Yerel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344168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BC5"/>
                </a:solidFill>
                <a:latin typeface="Aptos"/>
              </a:rPr>
              <a:t>Ollama üzerinden yanıt üretimi</a:t>
            </a:r>
          </a:p>
        </p:txBody>
      </p:sp>
      <p:sp>
        <p:nvSpPr>
          <p:cNvPr id="13" name="Oval 12"/>
          <p:cNvSpPr/>
          <p:nvPr/>
        </p:nvSpPr>
        <p:spPr>
          <a:xfrm>
            <a:off x="3886200" y="2395728"/>
            <a:ext cx="484632" cy="484632"/>
          </a:xfrm>
          <a:prstGeom prst="ellipse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478024"/>
            <a:ext cx="4846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1401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Yerel Model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14016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BC5"/>
                </a:solidFill>
                <a:latin typeface="Aptos"/>
              </a:rPr>
              <a:t>Sorguda haricî model hub erişimi yok</a:t>
            </a:r>
          </a:p>
        </p:txBody>
      </p:sp>
      <p:sp>
        <p:nvSpPr>
          <p:cNvPr id="17" name="Oval 16"/>
          <p:cNvSpPr/>
          <p:nvPr/>
        </p:nvSpPr>
        <p:spPr>
          <a:xfrm>
            <a:off x="3886200" y="3465576"/>
            <a:ext cx="484632" cy="484632"/>
          </a:xfrm>
          <a:prstGeom prst="ellipse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3547872"/>
            <a:ext cx="4846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48386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Koleksiyon Ayrımı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483864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BC5"/>
                </a:solidFill>
                <a:latin typeface="Aptos"/>
              </a:rPr>
              <a:t>Resmî / açık kaynak güven sınırı</a:t>
            </a:r>
          </a:p>
        </p:txBody>
      </p:sp>
      <p:sp>
        <p:nvSpPr>
          <p:cNvPr id="21" name="Oval 20"/>
          <p:cNvSpPr/>
          <p:nvPr/>
        </p:nvSpPr>
        <p:spPr>
          <a:xfrm>
            <a:off x="3886200" y="4535424"/>
            <a:ext cx="484632" cy="484632"/>
          </a:xfrm>
          <a:prstGeom prst="ellipse">
            <a:avLst/>
          </a:prstGeom>
          <a:solidFill>
            <a:srgbClr val="E95C65"/>
          </a:solidFill>
          <a:ln>
            <a:solidFill>
              <a:srgbClr val="E95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4617720"/>
            <a:ext cx="4846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537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İzlenebilirlik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553712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BC5"/>
                </a:solidFill>
                <a:latin typeface="Aptos"/>
              </a:rPr>
              <a:t>Kaynak ve sayfa görünürlüğü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87568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0D5D5"/>
                </a:solidFill>
                <a:latin typeface="Aptos"/>
              </a:rPr>
              <a:t>Üretim ortamı önerisi: RBAC • şifreli disk • audit log • imzalı indeks artefact'ları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Canlı Demo: 60 Saniyede Değer Gösterimi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343400"/>
          </a:xfrm>
          <a:prstGeom prst="roundRect">
            <a:avLst/>
          </a:prstGeom>
          <a:solidFill>
            <a:srgbClr val="102A41"/>
          </a:solidFill>
          <a:ln>
            <a:solidFill>
              <a:srgbClr val="1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D5D5"/>
                </a:solidFill>
                <a:latin typeface="Aptos"/>
              </a:rPr>
              <a:t>1  Kapsamı seç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945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BC5"/>
                </a:solidFill>
                <a:latin typeface="Aptos"/>
              </a:rPr>
              <a:t>“Yalnızca HAVELSAN resmî kaynakları”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260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D5D5"/>
                </a:solidFill>
                <a:latin typeface="Aptos"/>
              </a:rPr>
              <a:t>2  Soruyu 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33756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7FBFC"/>
                </a:solidFill>
                <a:latin typeface="Aptos"/>
              </a:rPr>
              <a:t>“ADVENT hangi taktik veri linklerini destekler?”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976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D5D5"/>
                </a:solidFill>
                <a:latin typeface="Aptos"/>
              </a:rPr>
              <a:t>3  Kanıtı göster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7091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BC5"/>
                </a:solidFill>
                <a:latin typeface="Aptos"/>
              </a:rPr>
              <a:t>Yanıt + belge adı + sayfa + reranker skoru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20240"/>
            <a:ext cx="4663440" cy="233172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920240"/>
            <a:ext cx="64008" cy="2331720"/>
          </a:xfrm>
          <a:prstGeom prst="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5704" y="213969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7D18C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139696"/>
            <a:ext cx="3730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Beklenen Yanıt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2624328"/>
            <a:ext cx="415137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Link 11, Link 16, Link 22, SIMPLE, JREAP ve VMF desteği; resmî broşür kaynak gösterimi ile sunulur.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92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0D5D5"/>
                </a:solidFill>
                <a:latin typeface="Aptos"/>
              </a:rPr>
              <a:t>Demo mesajı: Sistem yalnızca cevap vermiyor; cevabın kanıtını da sunuyor.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Mevcut Durum: Doğrulanan Çıktılar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240280" cy="1691640"/>
          </a:xfrm>
          <a:prstGeom prst="roundRect">
            <a:avLst/>
          </a:prstGeom>
          <a:solidFill>
            <a:srgbClr val="102F47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0D5D5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7FBFC"/>
                </a:solidFill>
                <a:latin typeface="Aptos"/>
              </a:rPr>
              <a:t>Ayrı koleksiyon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691640"/>
            <a:ext cx="2240280" cy="1691640"/>
          </a:xfrm>
          <a:prstGeom prst="roundRect">
            <a:avLst/>
          </a:prstGeom>
          <a:solidFill>
            <a:srgbClr val="102F47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965960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7D18C"/>
                </a:solidFill>
                <a:latin typeface="Aptos"/>
              </a:rPr>
              <a:t>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788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7FBFC"/>
                </a:solidFill>
                <a:latin typeface="Aptos"/>
              </a:rPr>
              <a:t>İndeks parçası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1691640"/>
            <a:ext cx="2240280" cy="1691640"/>
          </a:xfrm>
          <a:prstGeom prst="roundRect">
            <a:avLst/>
          </a:prstGeom>
          <a:solidFill>
            <a:srgbClr val="102F47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65960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8BE4A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788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7FBFC"/>
                </a:solidFill>
                <a:latin typeface="Aptos"/>
              </a:rPr>
              <a:t>Birim testi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0304" y="1691640"/>
            <a:ext cx="2240280" cy="1691640"/>
          </a:xfrm>
          <a:prstGeom prst="roundRect">
            <a:avLst/>
          </a:prstGeom>
          <a:solidFill>
            <a:srgbClr val="102F47"/>
          </a:solidFill>
          <a:ln>
            <a:solidFill>
              <a:srgbClr val="E95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1965960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95C65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788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7FBFC"/>
                </a:solidFill>
                <a:latin typeface="Aptos"/>
              </a:rPr>
              <a:t>Uçtan uca sorgu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343400"/>
            <a:ext cx="9372600" cy="914400"/>
          </a:xfrm>
          <a:prstGeom prst="roundRect">
            <a:avLst/>
          </a:prstGeom>
          <a:solidFill>
            <a:srgbClr val="173B53"/>
          </a:solidFill>
          <a:ln>
            <a:solidFill>
              <a:srgbClr val="17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0" y="4343400"/>
            <a:ext cx="64008" cy="9144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55064" y="4562856"/>
            <a:ext cx="438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4562856"/>
            <a:ext cx="84399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7FBFC"/>
                </a:solidFill>
                <a:latin typeface="Aptos"/>
              </a:rPr>
              <a:t>Önemli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5047488"/>
            <a:ext cx="8860536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9BBC5"/>
                </a:solidFill>
                <a:latin typeface="Aptos"/>
              </a:rPr>
              <a:t>Reranker skoru güven yüzdesi değildir; adayların sorguya göre göreli alaka sırasını gösterir.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5D5"/>
                </a:solidFill>
                <a:latin typeface="Aptos"/>
              </a:rPr>
              <a:t>CMS-RAG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7FBFC"/>
                </a:solidFill>
                <a:latin typeface="Aptos"/>
              </a:rPr>
              <a:t>Yol Haritası: Prototipten Kurumsal Ürüne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9BBC5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BC5"/>
                </a:solidFill>
                <a:latin typeface="Aptos"/>
              </a:rPr>
              <a:t>Yerel • Kaynak Gösteren • Denetlenebilir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880360"/>
            <a:ext cx="10058400" cy="0"/>
          </a:xfrm>
          <a:prstGeom prst="line">
            <a:avLst/>
          </a:prstGeom>
          <a:ln w="38100">
            <a:solidFill>
              <a:srgbClr val="A9BB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600200" y="2514600"/>
            <a:ext cx="713232" cy="713232"/>
          </a:xfrm>
          <a:prstGeom prst="ellipse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688336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0D5D5"/>
                </a:solidFill>
                <a:latin typeface="Aptos"/>
              </a:rPr>
              <a:t>Şimdi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BFC"/>
                </a:solidFill>
                <a:latin typeface="Aptos"/>
              </a:rPr>
              <a:t>Çalışan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9BBC5"/>
                </a:solidFill>
                <a:latin typeface="Aptos"/>
              </a:rPr>
              <a:t>Ayrık koleksiyonlar
Hybrid + reranking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2514600"/>
            <a:ext cx="713232" cy="713232"/>
          </a:xfrm>
          <a:prstGeom prst="ellipse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688336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50876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7D18C"/>
                </a:solidFill>
                <a:latin typeface="Aptos"/>
              </a:rPr>
              <a:t>Kısa Vade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930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BFC"/>
                </a:solidFill>
                <a:latin typeface="Aptos"/>
              </a:rPr>
              <a:t>Kalite Ölçümü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977639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9BBC5"/>
                </a:solidFill>
                <a:latin typeface="Aptos"/>
              </a:rPr>
              <a:t>Golden dataset
Citation precision/recall</a:t>
            </a:r>
          </a:p>
        </p:txBody>
      </p:sp>
      <p:sp>
        <p:nvSpPr>
          <p:cNvPr id="18" name="Oval 17"/>
          <p:cNvSpPr/>
          <p:nvPr/>
        </p:nvSpPr>
        <p:spPr>
          <a:xfrm>
            <a:off x="7178039" y="2514600"/>
            <a:ext cx="713232" cy="713232"/>
          </a:xfrm>
          <a:prstGeom prst="ellipse">
            <a:avLst/>
          </a:prstGeom>
          <a:solidFill>
            <a:srgbClr val="F8BE4A"/>
          </a:solidFill>
          <a:ln>
            <a:solidFill>
              <a:srgbClr val="F8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39" y="2688336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50876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BE4A"/>
                </a:solidFill>
                <a:latin typeface="Aptos"/>
              </a:rPr>
              <a:t>Orta Vade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4930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BFC"/>
                </a:solidFill>
                <a:latin typeface="Aptos"/>
              </a:rPr>
              <a:t>Kurumsal Güvenlik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977639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9BBC5"/>
                </a:solidFill>
                <a:latin typeface="Aptos"/>
              </a:rPr>
              <a:t>RBAC • audit log
Belge onay akışı</a:t>
            </a:r>
          </a:p>
        </p:txBody>
      </p:sp>
      <p:sp>
        <p:nvSpPr>
          <p:cNvPr id="23" name="Oval 22"/>
          <p:cNvSpPr/>
          <p:nvPr/>
        </p:nvSpPr>
        <p:spPr>
          <a:xfrm>
            <a:off x="9966959" y="2514600"/>
            <a:ext cx="713232" cy="713232"/>
          </a:xfrm>
          <a:prstGeom prst="ellipse">
            <a:avLst/>
          </a:prstGeom>
          <a:solidFill>
            <a:srgbClr val="A26EEA"/>
          </a:solidFill>
          <a:ln>
            <a:solidFill>
              <a:srgbClr val="A26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9" y="2688336"/>
            <a:ext cx="713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150876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26EEA"/>
                </a:solidFill>
                <a:latin typeface="Aptos"/>
              </a:rPr>
              <a:t>Uzun Vade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34930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FBFC"/>
                </a:solidFill>
                <a:latin typeface="Aptos"/>
              </a:rPr>
              <a:t>Sürekli İyileştirme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977639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9BBC5"/>
                </a:solidFill>
                <a:latin typeface="Aptos"/>
              </a:rPr>
              <a:t>Geri bildirim
İnsan denetimli kalite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1417320"/>
            <a:ext cx="2423160" cy="2423160"/>
          </a:xfrm>
          <a:prstGeom prst="ellipse">
            <a:avLst/>
          </a:prstGeom>
          <a:solidFill>
            <a:srgbClr val="102F4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1920240"/>
            <a:ext cx="1783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40D5D5"/>
                </a:solidFill>
                <a:latin typeface="Apto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71780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7FBFC"/>
                </a:solidFill>
                <a:latin typeface="Aptos Display"/>
              </a:rPr>
              <a:t>Doğru bilgiye,
doğru kaynakla,
doğru güven sınırında erişim.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6995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BBC5"/>
                </a:solidFill>
                <a:latin typeface="Aptos"/>
              </a:rPr>
              <a:t>CMS-RAG Asistanı; savunma alanında bilgi erişimini hızlandırırken
denetlenebilirlik ve gizlilik ilkelerini mimarinin merkezinde tutar.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83480"/>
            <a:ext cx="1737360" cy="310896"/>
          </a:xfrm>
          <a:prstGeom prst="roundRect">
            <a:avLst/>
          </a:prstGeom>
          <a:solidFill>
            <a:srgbClr val="40D5D5"/>
          </a:solidFill>
          <a:ln>
            <a:solidFill>
              <a:srgbClr val="40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F33"/>
                </a:solidFill>
                <a:latin typeface="Aptos"/>
              </a:rPr>
              <a:t>KAYNAK GÖSTEREN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4983480"/>
            <a:ext cx="1005840" cy="310896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502920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F33"/>
                </a:solidFill>
                <a:latin typeface="Aptos"/>
              </a:rPr>
              <a:t>YEREL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4983480"/>
            <a:ext cx="1691640" cy="310896"/>
          </a:xfrm>
          <a:prstGeom prst="roundRect">
            <a:avLst/>
          </a:prstGeom>
          <a:solidFill>
            <a:srgbClr val="47D18C"/>
          </a:solidFill>
          <a:ln>
            <a:solidFill>
              <a:srgbClr val="47D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5029200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F33"/>
                </a:solidFill>
                <a:latin typeface="Aptos"/>
              </a:rPr>
              <a:t>GENİŞLETİLEBİLİR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0D5D5"/>
                </a:solidFill>
                <a:latin typeface="Aptos"/>
              </a:rP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