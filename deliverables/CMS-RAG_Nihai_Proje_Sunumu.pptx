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8C7DC"/>
                </a:solidFill>
                <a:latin typeface="Aptos"/>
              </a:rPr>
              <a:t>CMS-RAG  /  NIHAI PROJE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49377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8BDF8"/>
                </a:solidFill>
                <a:latin typeface="Aptos"/>
              </a:rPr>
              <a:t>EVIDENCE-FIRST / LOCAL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536192"/>
            <a:ext cx="612648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CMS-RAG
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46120"/>
            <a:ext cx="5303520" cy="8229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C7D5E8"/>
                </a:solidFill>
                <a:latin typeface="Aptos"/>
              </a:rPr>
              <a:t>Savaş Yönetim Sistemi dokümanları için
kaynak kontrollü bilgi keşfi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63040"/>
            <a:ext cx="1143000" cy="658368"/>
          </a:xfrm>
          <a:prstGeom prst="roundRect">
            <a:avLst/>
          </a:prstGeom>
          <a:solidFill>
            <a:srgbClr val="1536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673352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1143000"/>
            <a:ext cx="1143000" cy="658368"/>
          </a:xfrm>
          <a:prstGeom prst="roundRect">
            <a:avLst/>
          </a:prstGeom>
          <a:solidFill>
            <a:srgbClr val="1536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353312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WEB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2743200"/>
            <a:ext cx="1143000" cy="658368"/>
          </a:xfrm>
          <a:prstGeom prst="roundRect">
            <a:avLst/>
          </a:prstGeom>
          <a:solidFill>
            <a:srgbClr val="1536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953512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RRF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337560"/>
            <a:ext cx="1143000" cy="658368"/>
          </a:xfrm>
          <a:prstGeom prst="roundRect">
            <a:avLst/>
          </a:prstGeom>
          <a:solidFill>
            <a:srgbClr val="1536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547872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4572000"/>
            <a:ext cx="1143000" cy="658368"/>
          </a:xfrm>
          <a:prstGeom prst="roundRect">
            <a:avLst/>
          </a:prstGeom>
          <a:solidFill>
            <a:srgbClr val="15365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782312"/>
            <a:ext cx="11430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882127" y="1472184"/>
            <a:ext cx="2103121" cy="320040"/>
          </a:xfrm>
          <a:prstGeom prst="line">
            <a:avLst/>
          </a:prstGeom>
          <a:ln w="1651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985248" y="1472184"/>
            <a:ext cx="868680" cy="1600200"/>
          </a:xfrm>
          <a:prstGeom prst="line">
            <a:avLst/>
          </a:prstGeom>
          <a:ln w="1651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025128" y="3072384"/>
            <a:ext cx="1828800" cy="594360"/>
          </a:xfrm>
          <a:prstGeom prst="line">
            <a:avLst/>
          </a:prstGeom>
          <a:ln w="1651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470648" y="3666744"/>
            <a:ext cx="1554480" cy="1234440"/>
          </a:xfrm>
          <a:prstGeom prst="line">
            <a:avLst/>
          </a:prstGeom>
          <a:ln w="16510">
            <a:solidFill>
              <a:srgbClr val="38BDF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6144768"/>
            <a:ext cx="6400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8FA8C8"/>
                </a:solidFill>
                <a:latin typeface="Aptos"/>
              </a:rPr>
              <a:t>Sürüm 1.0  ·  26.07.2026  ·  develop@d022506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YÖNETICI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Tek cümlede proje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4241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Dağınık teknik dokümanı denetlenebilir, yerel ve kaynaklı cevaba dönüştürür.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214884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33 / 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542032"/>
            <a:ext cx="2148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OTOMATİK 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202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92024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057400"/>
            <a:ext cx="214884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4 /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542032"/>
            <a:ext cx="2148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RETRIEVAL KABULÜ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9202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192024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2057400"/>
            <a:ext cx="214884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2542032"/>
            <a:ext cx="2148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KANIT PARÇASI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920240"/>
            <a:ext cx="2468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58200" y="1920240"/>
            <a:ext cx="73152" cy="10515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9368" y="2057400"/>
            <a:ext cx="214884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HTTP 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2542032"/>
            <a:ext cx="2148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CANLI SERVİS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29000"/>
            <a:ext cx="10927080" cy="201168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730752"/>
            <a:ext cx="2103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Aptos"/>
              </a:rPr>
              <a:t>Çözüm değeri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60520"/>
            <a:ext cx="68580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Yanıt + belge + sayfa + otorite + koleksiyon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800600"/>
            <a:ext cx="768096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C7D5E8"/>
                </a:solidFill>
                <a:latin typeface="Aptos"/>
              </a:rPr>
              <a:t>Kullanıcı model çıktısını yalnız okumaz; kanıtı açıp denetler.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749039"/>
            <a:ext cx="192024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3813048"/>
            <a:ext cx="177393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YEREL OLLAMA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4343400"/>
            <a:ext cx="237744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4407408"/>
            <a:ext cx="223113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KOLEKSIYON IZOLASYONU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937760"/>
            <a:ext cx="192024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9952" y="5001768"/>
            <a:ext cx="177393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HIBRIT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Neden klasik arama veya yalnız LLM yetmiyor?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12848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B5FA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70048"/>
            <a:ext cx="29260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Dağınık bilgi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273552"/>
            <a:ext cx="28803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Broşür, ürün sayfası ve açık referanslar farklı yerlerde.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96596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212848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B5FA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670048"/>
            <a:ext cx="29260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Bağlam kaybı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273552"/>
            <a:ext cx="28803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Anahtar kelime araması anlam yakınlığını kaçırabilir.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965960"/>
            <a:ext cx="342900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2212848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670048"/>
            <a:ext cx="29260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Kaynaksız üretim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3273552"/>
            <a:ext cx="28803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LLM, ürün yeteneği veya örnek uydurabilir.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92040"/>
            <a:ext cx="10927080" cy="77724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38928"/>
            <a:ext cx="10378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1B5FA7"/>
                </a:solidFill>
                <a:latin typeface="Aptos"/>
              </a:rPr>
              <a:t>Tasarım hedefi  →  Cevabı değil, cevabın kanıt zincirini güvenilir hâle getirmek.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KAYNAK GÜVENI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Kaynaklar birleşir; otoriteleri karışmaz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4241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Her parça belge, sayfa, koleksiyon, otorite ve URL bilgisini korur.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10835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176272"/>
            <a:ext cx="14173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40279"/>
            <a:ext cx="12710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1B5FA7"/>
                </a:solidFill>
                <a:latin typeface="Aptos"/>
              </a:rPr>
              <a:t>OFFICIAL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084831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Resmî PDF + HAVELSAN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103120"/>
            <a:ext cx="54406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Ürün ve ADVENT iddiaları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08960"/>
            <a:ext cx="10835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3410712"/>
            <a:ext cx="14173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474720"/>
            <a:ext cx="12710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16A34A"/>
                </a:solidFill>
                <a:latin typeface="Aptos"/>
              </a:rPr>
              <a:t>OPEN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19272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NATO kamu referansı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37560"/>
            <a:ext cx="54406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Genel C2 ve birlikte çalışabilirlik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1083564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" y="4645152"/>
            <a:ext cx="14173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4709160"/>
            <a:ext cx="12710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59E0B"/>
                </a:solidFill>
                <a:latin typeface="Aptos"/>
              </a:rPr>
              <a:t>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4553712"/>
            <a:ext cx="2926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Birleşik görünüm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572000"/>
            <a:ext cx="544068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Aptos"/>
              </a:rPr>
              <a:t>Kaynak kimliği korunarak geniş araştırma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77724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B5FA7"/>
                </a:solidFill>
                <a:latin typeface="Aptos"/>
              </a:rPr>
              <a:t>Kapsam değiştiğinde konuşma belleği de ayrılır.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5715000"/>
            <a:ext cx="42062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6A34A"/>
                </a:solidFill>
                <a:latin typeface="Aptos"/>
              </a:rPr>
              <a:t>→ ADVENT geçmişi NATO cevabını kirletemez.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8C7DC"/>
                </a:solidFill>
                <a:latin typeface="Aptos"/>
              </a:rPr>
              <a:t>CMS-RAG  /  MIMARI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Katmanlı ve testle korunan yapı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4241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CAD5E5"/>
                </a:solidFill>
                <a:latin typeface="Aptos"/>
              </a:rPr>
              <a:t>Bağımlılık yönü yukarıdan aşağı; domain teknoloji bağımsızdır.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9847" y="1783080"/>
            <a:ext cx="4572000" cy="566928"/>
          </a:xfrm>
          <a:prstGeom prst="roundRect">
            <a:avLst/>
          </a:prstGeom>
          <a:solidFill>
            <a:srgbClr val="1A335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92727" y="1929384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8687" y="1929384"/>
            <a:ext cx="22402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D7E6F7"/>
                </a:solidFill>
                <a:latin typeface="Aptos"/>
              </a:rPr>
              <a:t>7 satırlık giriş noktası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5447" y="2560320"/>
            <a:ext cx="6400800" cy="566928"/>
          </a:xfrm>
          <a:prstGeom prst="roundRect">
            <a:avLst/>
          </a:prstGeom>
          <a:solidFill>
            <a:srgbClr val="16497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8327" y="2706624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4287" y="2706624"/>
            <a:ext cx="4069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D7E6F7"/>
                </a:solidFill>
                <a:latin typeface="Aptos"/>
              </a:rPr>
              <a:t>Streamlit · sohbet · sidebar · kanıt kartı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3927" y="3337560"/>
            <a:ext cx="7863840" cy="566928"/>
          </a:xfrm>
          <a:prstGeom prst="roundRect">
            <a:avLst/>
          </a:prstGeom>
          <a:solidFill>
            <a:srgbClr val="1B5FA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46807" y="3483864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767" y="3483864"/>
            <a:ext cx="5532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D7E6F7"/>
                </a:solidFill>
                <a:latin typeface="Aptos"/>
              </a:rPr>
              <a:t>RAG kullanım senaryosu orkestrasyonu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78127" y="4114800"/>
            <a:ext cx="9235440" cy="566928"/>
          </a:xfrm>
          <a:prstGeom prst="roundRect">
            <a:avLst/>
          </a:prstGeom>
          <a:solidFill>
            <a:srgbClr val="237BB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61007" y="4261104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967" y="4261104"/>
            <a:ext cx="69037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D7E6F7"/>
                </a:solidFill>
                <a:latin typeface="Aptos"/>
              </a:rPr>
              <a:t>Modeller · sorgu kuralları · kanıt cevapları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767" y="4892040"/>
            <a:ext cx="10424160" cy="566928"/>
          </a:xfrm>
          <a:prstGeom prst="roundRect">
            <a:avLst/>
          </a:prstGeom>
          <a:solidFill>
            <a:srgbClr val="2E93D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647" y="5038344"/>
            <a:ext cx="19202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infrastructure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32607" y="5038344"/>
            <a:ext cx="8092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D7E6F7"/>
                </a:solidFill>
                <a:latin typeface="Aptos"/>
              </a:rPr>
              <a:t>PDF · manifest · FAISS · BM25 · reranker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5897880"/>
            <a:ext cx="35661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8BDF8"/>
                </a:solidFill>
                <a:latin typeface="Aptos"/>
              </a:rPr>
              <a:t>ArchitectureGuardTests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6236208"/>
            <a:ext cx="59436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9DB4D1"/>
                </a:solidFill>
                <a:latin typeface="Aptos"/>
              </a:rPr>
              <a:t>ince giriş · bağımlılık yönü · Türkçe açıklama standardı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BELGE YAŞAM DÖNGÜSÜ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PDF, yüklemeden kanıta kadar izlenebilir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70687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33472"/>
            <a:ext cx="1487423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Doğrula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1487423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%PDF + 200 MB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46960" y="2907791"/>
            <a:ext cx="137159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4120" y="2194560"/>
            <a:ext cx="170687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3848" y="233172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3848" y="2633472"/>
            <a:ext cx="1487423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Kimlik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3848" y="3017520"/>
            <a:ext cx="1487423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SHA-256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90999" y="2907791"/>
            <a:ext cx="137161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28160" y="2194560"/>
            <a:ext cx="170687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7888" y="233172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7888" y="2633472"/>
            <a:ext cx="1487423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Sakla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7888" y="3017520"/>
            <a:ext cx="1487423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İçerik adresli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907791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2194560"/>
            <a:ext cx="170687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233172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2633472"/>
            <a:ext cx="1487423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Manifest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8" y="3017520"/>
            <a:ext cx="1487423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Ad + boyut + tarih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79080" y="2907791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16239" y="2194560"/>
            <a:ext cx="170687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5967" y="233172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5967" y="2633472"/>
            <a:ext cx="1487423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Parçala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5967" y="3017520"/>
            <a:ext cx="1487423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Sayfa + overlap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23120" y="2907791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60279" y="2194560"/>
            <a:ext cx="170687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70007" y="2331720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0007" y="2633472"/>
            <a:ext cx="1487423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İndeksle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0007" y="3017520"/>
            <a:ext cx="1487423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FAISS + BM25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251960"/>
            <a:ext cx="5212080" cy="1115568"/>
          </a:xfrm>
          <a:prstGeom prst="roundRect">
            <a:avLst/>
          </a:prstGeom>
          <a:solidFill>
            <a:srgbClr val="EDF9F1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517136"/>
            <a:ext cx="1463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Aptos"/>
              </a:rPr>
              <a:t>Aynı içerik?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517136"/>
            <a:ext cx="324612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İkinci kayıt yok · kullanıcıya duplicate bilgisi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44768" y="4251960"/>
            <a:ext cx="5212080" cy="1115568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517136"/>
            <a:ext cx="1463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Bozuk PDF?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18120" y="4517136"/>
            <a:ext cx="31546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Dosya atlanır · tüm indeksleme durmaz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RAG HATTI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Hibrit retrieval: anlam + terim + yeniden sıralama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Soru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Türkçe doğal dil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83525" y="2816352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20685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0413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0413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0413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CMS sözlüğü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64131" y="2816352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801291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1019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1019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Semantic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1019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BGE + FAISS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244737" y="2816352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81897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1625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1625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BM25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1625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Kesin terim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25342" y="2816352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62502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2230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2230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RRF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2230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Sıra füzyonu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05948" y="2816352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43108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2836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2836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Rerank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2836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Cross-encoder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986554" y="2816352"/>
            <a:ext cx="137160" cy="0"/>
          </a:xfrm>
          <a:prstGeom prst="line">
            <a:avLst/>
          </a:prstGeom>
          <a:ln w="2286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23714" y="2103120"/>
            <a:ext cx="144344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33442" y="2240279"/>
            <a:ext cx="320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8BDF8"/>
                </a:solidFill>
                <a:latin typeface="Apto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33442" y="2542032"/>
            <a:ext cx="122398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Kanıt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33442" y="2926079"/>
            <a:ext cx="1223989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19" b="0">
                <a:solidFill>
                  <a:srgbClr val="5F6B7A"/>
                </a:solidFill>
                <a:latin typeface="Aptos"/>
              </a:rPr>
              <a:t>Sayfa birleştirme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251960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B5FA7"/>
                </a:solidFill>
                <a:latin typeface="Aptos"/>
              </a:rPr>
              <a:t>Semantic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4251960"/>
            <a:ext cx="3886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“Savaş gemisi” ↔ “surface platform” anlam yakınlığı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818888"/>
            <a:ext cx="13716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Aptos"/>
              </a:rPr>
              <a:t>BM25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818888"/>
            <a:ext cx="3886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ADVENT · MÜREN · Link 11 · Link 16 kesin eşleşmesi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4160520"/>
            <a:ext cx="4434840" cy="11430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4407408"/>
            <a:ext cx="91440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38BDF8"/>
                </a:solidFill>
                <a:latin typeface="Aptos"/>
              </a:rPr>
              <a:t>RRF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2440" y="4425696"/>
            <a:ext cx="2194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1 / (60 + sıra)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4892040"/>
            <a:ext cx="36118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C7D5E8"/>
                </a:solidFill>
                <a:latin typeface="Aptos"/>
              </a:rPr>
              <a:t>Farklı puan ölçeklerini istikrarlı birleştirir.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CEVAP GÜVENILIRLIĞI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Model en son adım; karar zincirinin tamamı değil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34290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39112"/>
            <a:ext cx="4114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B5FA7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02082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İndeks var mı?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532887"/>
            <a:ext cx="242316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Yoksa yükleme yönlendirmesi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74519"/>
            <a:ext cx="34290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039112"/>
            <a:ext cx="4114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B5FA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02082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Alan içi mi?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532887"/>
            <a:ext cx="242316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Kişisel sohbet → güvenli ret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874519"/>
            <a:ext cx="34290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039112"/>
            <a:ext cx="4114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202082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Kesin kanıt var mı?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532887"/>
            <a:ext cx="242316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Deterministik kaynaklı cevap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03320"/>
            <a:ext cx="34290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3867911"/>
            <a:ext cx="4114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B5FA7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84962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Retrieval yeterli mi?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361688"/>
            <a:ext cx="242316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Kapsam filtreli adaylar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25696" y="3703320"/>
            <a:ext cx="34290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867911"/>
            <a:ext cx="4114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B5FA7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4064" y="384962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Ollama üretimi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4361688"/>
            <a:ext cx="242316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≤55 kelime · düşük sıcaklık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3703320"/>
            <a:ext cx="34290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75904" y="3867911"/>
            <a:ext cx="4114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3849624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Aptos"/>
              </a:rPr>
              <a:t>Kaynak kontrolü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1392" y="4361688"/>
            <a:ext cx="2423160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F6B7A"/>
                </a:solidFill>
                <a:latin typeface="Aptos"/>
              </a:rPr>
              <a:t>[SOURCE n] + kanıt kartı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715000"/>
            <a:ext cx="27432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Aptos"/>
              </a:rPr>
              <a:t>Servis hatası ≠ kanıt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715000"/>
            <a:ext cx="7909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F6B7A"/>
                </a:solidFill>
                <a:latin typeface="Aptos"/>
              </a:rPr>
              <a:t>Ollama erişilemiyorsa retrieval sonuçları kullanıcıya kaynak diye gösterilmez.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8C7DC"/>
                </a:solidFill>
                <a:latin typeface="Aptos"/>
              </a:rPr>
              <a:t>CMS-RAG  /  KONUŞMA BELLEĞI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Takip sorusu anlaşılır; kapsamlar birbirine sızmaz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4983480" cy="731520"/>
          </a:xfrm>
          <a:prstGeom prst="roundRect">
            <a:avLst/>
          </a:prstGeom>
          <a:solidFill>
            <a:srgbClr val="15365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4480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ADVENT nedir?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4983480" cy="868680"/>
          </a:xfrm>
          <a:prstGeom prst="roundRect">
            <a:avLst/>
          </a:prstGeom>
          <a:solidFill>
            <a:srgbClr val="1B416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44368"/>
            <a:ext cx="4480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Örnekleri var mı?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310128"/>
            <a:ext cx="19202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38BDF8"/>
                </a:solidFill>
                <a:latin typeface="Aptos"/>
              </a:rPr>
              <a:t>← aynı official geçmişi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94760"/>
            <a:ext cx="4983480" cy="868680"/>
          </a:xfrm>
          <a:prstGeom prst="roundRect">
            <a:avLst/>
          </a:prstGeom>
          <a:solidFill>
            <a:srgbClr val="174A46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05072"/>
            <a:ext cx="4480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NATO interoperability?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4370832"/>
            <a:ext cx="21945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7EE2BA"/>
                </a:solidFill>
                <a:latin typeface="Aptos"/>
              </a:rPr>
              <a:t>← open_source: yeni bağlam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783080"/>
            <a:ext cx="73152" cy="3246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743200"/>
            <a:ext cx="731520" cy="7315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  <a:latin typeface="Aptos"/>
              </a:rPr>
              <a:t>SCOPE
WALL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965960"/>
            <a:ext cx="4160520" cy="1143000"/>
          </a:xfrm>
          <a:prstGeom prst="roundRect">
            <a:avLst/>
          </a:prstGeom>
          <a:solidFill>
            <a:srgbClr val="13335A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212848"/>
            <a:ext cx="3566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official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624328"/>
            <a:ext cx="35661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FC2DA"/>
                </a:solidFill>
                <a:latin typeface="Aptos"/>
              </a:rPr>
              <a:t>ADVENT ürün bağlamı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3456432"/>
            <a:ext cx="4160520" cy="1143000"/>
          </a:xfrm>
          <a:prstGeom prst="roundRect">
            <a:avLst/>
          </a:prstGeom>
          <a:solidFill>
            <a:srgbClr val="174A46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703320"/>
            <a:ext cx="35661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open_source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114800"/>
            <a:ext cx="35661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BDE7D5"/>
                </a:solidFill>
                <a:latin typeface="Aptos"/>
              </a:rPr>
              <a:t>NATO genel birlikte çalışabilirlik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15000"/>
            <a:ext cx="6309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Aptos"/>
              </a:rPr>
              <a:t>En fazla 3 tur · kapsam etiketli · bounded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KULLANICI DENEYIMI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Arayüzün ana ürünü: görünür kanıt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108813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2331720" cy="42519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1874519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◆ Knowledge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15087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670048"/>
            <a:ext cx="136245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KAPSAM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3182112"/>
            <a:ext cx="15087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3246120"/>
            <a:ext cx="136245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PDF YÜKLE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758184"/>
            <a:ext cx="15087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" y="3822192"/>
            <a:ext cx="136245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İNDEKSI YENILE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1737360" cy="7772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AFC2DA"/>
                </a:solidFill>
                <a:latin typeface="Aptos"/>
              </a:rPr>
              <a:t>Model · qwen2.5:3b
Belge · 1
Arama · Hybrid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938528"/>
            <a:ext cx="43891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0B1F3A"/>
                </a:solidFill>
                <a:latin typeface="Aptos"/>
              </a:rPr>
              <a:t>Komuta Bilgi Keşfi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697480"/>
            <a:ext cx="7680960" cy="566928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880360"/>
            <a:ext cx="7040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72033"/>
                </a:solidFill>
                <a:latin typeface="Aptos"/>
              </a:rPr>
              <a:t>ADVENT nedir?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3456432"/>
            <a:ext cx="7680960" cy="960120"/>
          </a:xfrm>
          <a:prstGeom prst="roundRect">
            <a:avLst/>
          </a:prstGeom>
          <a:solidFill>
            <a:srgbClr val="F7FAFE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639312"/>
            <a:ext cx="1828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1B5FA7"/>
                </a:solidFill>
                <a:latin typeface="Aptos"/>
              </a:rPr>
              <a:t>KAYNAKLI YANIT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31920"/>
            <a:ext cx="6995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172033"/>
                </a:solidFill>
                <a:latin typeface="Aptos"/>
              </a:rPr>
              <a:t>ADVENT, farklı operasyonel ortamlar için uyarlanabilen bir CMS ürün ailesidir [SOURCE 1].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617720"/>
            <a:ext cx="7223760" cy="5943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4809744"/>
            <a:ext cx="676656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B5FA7"/>
                </a:solidFill>
                <a:latin typeface="Aptos"/>
              </a:rPr>
              <a:t>Kanıt paketi · advent_cms.pdf · Sayfa 4 · official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532120"/>
            <a:ext cx="16459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  <a:latin typeface="Aptos"/>
              </a:rPr>
              <a:t>Akışlı yazım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532120"/>
            <a:ext cx="2103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B5FA7"/>
                </a:solidFill>
                <a:latin typeface="Aptos"/>
              </a:rPr>
              <a:t>Kalıcı kaynak kartı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532120"/>
            <a:ext cx="14630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ptos"/>
              </a:rPr>
              <a:t>Güvenli ret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TEST VE KABUL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“Çalışıyor” değil; ölçülmüş ve yeniden üretilmiş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10515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65960"/>
            <a:ext cx="1965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33 / 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450592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8288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0672" y="1828800"/>
            <a:ext cx="73152" cy="1051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1965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4 /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50592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2976" y="18288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22976" y="182880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4144" y="1965960"/>
            <a:ext cx="1965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34 / 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4144" y="2450592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PDF SAYFASI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8288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828800"/>
            <a:ext cx="73152" cy="10515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965960"/>
            <a:ext cx="19659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450592"/>
            <a:ext cx="1965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5F6B7A"/>
                </a:solidFill>
                <a:latin typeface="Aptos"/>
              </a:rPr>
              <a:t>EKSİK KAYNAK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337560"/>
            <a:ext cx="1325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Aptos"/>
              </a:rPr>
              <a:t>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3364991"/>
            <a:ext cx="6949440" cy="16459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48840" y="3364991"/>
            <a:ext cx="3474720" cy="164592"/>
          </a:xfrm>
          <a:prstGeom prst="rect">
            <a:avLst/>
          </a:prstGeom>
          <a:solidFill>
            <a:srgbClr val="1B5FA7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328416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840480"/>
            <a:ext cx="1325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Aptos"/>
              </a:rPr>
              <a:t>Engine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3867912"/>
            <a:ext cx="6949440" cy="16459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48840" y="3867912"/>
            <a:ext cx="694944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5440" y="3831336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Aptos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1325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Aptos"/>
              </a:rPr>
              <a:t>UI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370832"/>
            <a:ext cx="6949440" cy="16459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48840" y="4370832"/>
            <a:ext cx="1985554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4334256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846320"/>
            <a:ext cx="1325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Aptos"/>
              </a:rPr>
              <a:t>Ingest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4873752"/>
            <a:ext cx="6949440" cy="16459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148840" y="4873752"/>
            <a:ext cx="1985554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4837176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349240"/>
            <a:ext cx="1325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5F6B7A"/>
                </a:solidFill>
                <a:latin typeface="Aptos"/>
              </a:rPr>
              <a:t>Architecture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5376672"/>
            <a:ext cx="6949440" cy="16459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148840" y="5376672"/>
            <a:ext cx="148916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5340096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Aptos"/>
              </a:rPr>
              <a:t>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21240" y="3310128"/>
            <a:ext cx="1417320" cy="22860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3657600"/>
            <a:ext cx="114300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38BDF8"/>
                </a:solidFill>
                <a:latin typeface="Aptos"/>
              </a:rPr>
              <a:t>GIT
ARCHIVE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4498848"/>
            <a:ext cx="114300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ptos"/>
              </a:rPr>
              <a:t>temiz kopyada
aynı sonuç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8C7DC"/>
                </a:solidFill>
                <a:latin typeface="Aptos"/>
              </a:rPr>
              <a:t>CMS-RAG  /  GÜVENLIK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Yerel çalışma + kontrollü kaynak + güvenli hata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9000" cy="128016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075688"/>
            <a:ext cx="9601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9696"/>
            <a:ext cx="8138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32887"/>
            <a:ext cx="2926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Belge metni bulut LLM'e gitmez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74519"/>
            <a:ext cx="3429000" cy="128016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15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54296" y="2075688"/>
            <a:ext cx="9601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139696"/>
            <a:ext cx="8138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2532887"/>
            <a:ext cx="2926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SHA-256 duplicate ve bütünlük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874519"/>
            <a:ext cx="3429000" cy="128016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21624" y="2075688"/>
            <a:ext cx="9601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139696"/>
            <a:ext cx="8138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4" y="2532887"/>
            <a:ext cx="2926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Koleksiyon ve geçmiş izolasyonu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429000" cy="128016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15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6968" y="3767328"/>
            <a:ext cx="9601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31336"/>
            <a:ext cx="8138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ESCAPE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24528"/>
            <a:ext cx="2926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Kaynak HTML çıktısı güvenli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566160"/>
            <a:ext cx="3429000" cy="128016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15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54296" y="3767328"/>
            <a:ext cx="9601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831336"/>
            <a:ext cx="8138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REJECT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224528"/>
            <a:ext cx="2926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Yetersiz kanıtta açık ret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0456" y="3566160"/>
            <a:ext cx="3429000" cy="128016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15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21624" y="3767328"/>
            <a:ext cx="96012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3831336"/>
            <a:ext cx="8138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4224528"/>
            <a:ext cx="29260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Manifest traversal engeli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1001268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ptos"/>
              </a:rPr>
              <a:t>Üretime geçişte: RBAC · disk şifreleme · audit · zararlı dosya taraması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GIT VE SÜRÜMLEME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Geçmiş korunur; değişiklikler kontrollü akar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1F3A"/>
                </a:solidFill>
                <a:latin typeface="Aptos"/>
              </a:rPr>
              <a:t>main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37360" y="2103120"/>
            <a:ext cx="9418320" cy="0"/>
          </a:xfrm>
          <a:prstGeom prst="line">
            <a:avLst/>
          </a:prstGeom>
          <a:ln w="15240">
            <a:solidFill>
              <a:srgbClr val="C9D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9008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B5FA7"/>
                </a:solidFill>
                <a:latin typeface="Aptos"/>
              </a:rPr>
              <a:t>develop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3108960"/>
            <a:ext cx="9418320" cy="0"/>
          </a:xfrm>
          <a:prstGeom prst="line">
            <a:avLst/>
          </a:prstGeom>
          <a:ln w="15240">
            <a:solidFill>
              <a:srgbClr val="C9D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399592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8BDF8"/>
                </a:solidFill>
                <a:latin typeface="Aptos"/>
              </a:rPr>
              <a:t>feature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0" y="4114800"/>
            <a:ext cx="9418320" cy="0"/>
          </a:xfrm>
          <a:prstGeom prst="line">
            <a:avLst/>
          </a:prstGeom>
          <a:ln w="15240">
            <a:solidFill>
              <a:srgbClr val="C9D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5001768"/>
            <a:ext cx="1051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release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5120640"/>
            <a:ext cx="9418320" cy="0"/>
          </a:xfrm>
          <a:prstGeom prst="line">
            <a:avLst/>
          </a:prstGeom>
          <a:ln w="15240">
            <a:solidFill>
              <a:srgbClr val="C9D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194560" y="1956816"/>
            <a:ext cx="201168" cy="201168"/>
          </a:xfrm>
          <a:prstGeom prst="ellipse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224028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0B1F3A"/>
                </a:solidFill>
                <a:latin typeface="Aptos"/>
              </a:rPr>
              <a:t>legacy</a:t>
            </a:r>
          </a:p>
        </p:txBody>
      </p:sp>
      <p:sp>
        <p:nvSpPr>
          <p:cNvPr id="16" name="Oval 15"/>
          <p:cNvSpPr/>
          <p:nvPr/>
        </p:nvSpPr>
        <p:spPr>
          <a:xfrm>
            <a:off x="3291840" y="2962656"/>
            <a:ext cx="201168" cy="201168"/>
          </a:xfrm>
          <a:prstGeom prst="ellipse">
            <a:avLst/>
          </a:prstGeom>
          <a:solidFill>
            <a:srgbClr val="1B5FA7"/>
          </a:solidFill>
          <a:ln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24612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1B5FA7"/>
                </a:solidFill>
                <a:latin typeface="Aptos"/>
              </a:rPr>
              <a:t>4dbf3f8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968496"/>
            <a:ext cx="201168" cy="201168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425196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43b38ae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3968496"/>
            <a:ext cx="201168" cy="201168"/>
          </a:xfrm>
          <a:prstGeom prst="ellipse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59" y="425196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0e72e16</a:t>
            </a:r>
          </a:p>
        </p:txBody>
      </p:sp>
      <p:sp>
        <p:nvSpPr>
          <p:cNvPr id="22" name="Oval 21"/>
          <p:cNvSpPr/>
          <p:nvPr/>
        </p:nvSpPr>
        <p:spPr>
          <a:xfrm>
            <a:off x="7635240" y="2962656"/>
            <a:ext cx="201168" cy="201168"/>
          </a:xfrm>
          <a:prstGeom prst="ellipse">
            <a:avLst/>
          </a:prstGeom>
          <a:solidFill>
            <a:srgbClr val="1B5FA7"/>
          </a:solidFill>
          <a:ln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9" y="324612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1B5FA7"/>
                </a:solidFill>
                <a:latin typeface="Aptos"/>
              </a:rPr>
              <a:t>d022506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0" y="4974336"/>
            <a:ext cx="201168" cy="20116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525780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59E0B"/>
                </a:solidFill>
                <a:latin typeface="Aptos"/>
              </a:rPr>
              <a:t>release/*</a:t>
            </a:r>
          </a:p>
        </p:txBody>
      </p:sp>
      <p:sp>
        <p:nvSpPr>
          <p:cNvPr id="26" name="Oval 25"/>
          <p:cNvSpPr/>
          <p:nvPr/>
        </p:nvSpPr>
        <p:spPr>
          <a:xfrm>
            <a:off x="10652760" y="1956816"/>
            <a:ext cx="201168" cy="201168"/>
          </a:xfrm>
          <a:prstGeom prst="ellipse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87000" y="2240280"/>
            <a:ext cx="9601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0B1F3A"/>
                </a:solidFill>
                <a:latin typeface="Aptos"/>
              </a:rPr>
              <a:t>v1.x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91840" y="3063240"/>
            <a:ext cx="1280160" cy="1005840"/>
          </a:xfrm>
          <a:prstGeom prst="line">
            <a:avLst/>
          </a:prstGeom>
          <a:ln w="1905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318504" y="3063240"/>
            <a:ext cx="1316736" cy="1005840"/>
          </a:xfrm>
          <a:prstGeom prst="line">
            <a:avLst/>
          </a:prstGeom>
          <a:ln w="19050">
            <a:solidFill>
              <a:srgbClr val="1B5F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726679" y="3063240"/>
            <a:ext cx="1783081" cy="201168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601200" y="2057400"/>
            <a:ext cx="1051560" cy="3017520"/>
          </a:xfrm>
          <a:prstGeom prst="line">
            <a:avLst/>
          </a:prstGeom>
          <a:ln w="19050">
            <a:solidFill>
              <a:srgbClr val="0B1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828800" y="5806440"/>
            <a:ext cx="30175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0B1F3A"/>
                </a:solidFill>
                <a:latin typeface="Aptos"/>
              </a:rPr>
              <a:t>main: yalnız yayımlanmış sürüm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806440"/>
            <a:ext cx="29260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1B5FA7"/>
                </a:solidFill>
                <a:latin typeface="Aptos"/>
              </a:rPr>
              <a:t>develop: entegrasyon tabanı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806440"/>
            <a:ext cx="3474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ptos"/>
              </a:rPr>
              <a:t>feature/release: inceleme + kabul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ÇALIŞTIRMA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Yerel kurulum: iki servis, tek tarayıcı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94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880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Python ortamı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310128"/>
            <a:ext cx="3017520" cy="10058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547872"/>
            <a:ext cx="26517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Cascadia Mono"/>
              </a:rPr>
              <a:t>python -m venv .venv
pip install -r requirements.txt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594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70048"/>
            <a:ext cx="2880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Yerel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5152" y="3310128"/>
            <a:ext cx="3017520" cy="10058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3547872"/>
            <a:ext cx="26517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Cascadia Mono"/>
              </a:rPr>
              <a:t>ollama pull qwen2.5:3b
ollama serve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74519"/>
            <a:ext cx="342900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594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70048"/>
            <a:ext cx="28803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Uygulama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3310128"/>
            <a:ext cx="3017520" cy="10058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3547872"/>
            <a:ext cx="265176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Cascadia Mono"/>
              </a:rPr>
              <a:t>python -m streamlit run app.py
localhost:8501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102352"/>
            <a:ext cx="10927080" cy="71323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21808"/>
            <a:ext cx="4206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B5FA7"/>
                </a:solidFill>
                <a:latin typeface="Aptos"/>
              </a:rPr>
              <a:t>Offline mod  ·  $env:CMS_RAG_OFFLINE="1"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5321808"/>
            <a:ext cx="5257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B5FA7"/>
                </a:solidFill>
                <a:latin typeface="Aptos"/>
              </a:rPr>
              <a:t>Kalite modu  ·  $env:CMS_RAG_MODEL="qwen2.5:7b"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5F6B7A"/>
                </a:solidFill>
                <a:latin typeface="Aptos"/>
              </a:rPr>
              <a:t>CMS-RAG  /  YOL HARITASI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B1F3A"/>
                </a:solidFill>
                <a:latin typeface="Aptos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1B5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0B1F3A"/>
                </a:solidFill>
                <a:latin typeface="Aptos Display"/>
              </a:rPr>
              <a:t>MVP tamamlandı; kurumsal ölçek için sıradaki adımlar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40" y="2148840"/>
            <a:ext cx="1874519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2212848"/>
            <a:ext cx="17282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1B5FA7"/>
                </a:solidFill>
                <a:latin typeface="Aptos"/>
              </a:rPr>
              <a:t>YAKIN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60604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Aptos"/>
              </a:rPr>
              <a:t>OCR
Kaynak drift kontrolü
CI kabul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4617720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B5FA7"/>
                </a:solidFill>
                <a:latin typeface="Aptos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429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79" y="2148840"/>
            <a:ext cx="1874519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1" y="2212848"/>
            <a:ext cx="17282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16A34A"/>
                </a:solidFill>
                <a:latin typeface="Aptos"/>
              </a:rPr>
              <a:t>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80360"/>
            <a:ext cx="260604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Aptos"/>
              </a:rPr>
              <a:t>Kalıcı vektör deposu
RAG kalite paneli
RBAC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8152" y="4617720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828800"/>
            <a:ext cx="342900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19" y="2148840"/>
            <a:ext cx="1874519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2212848"/>
            <a:ext cx="1728216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59E0B"/>
                </a:solidFill>
                <a:latin typeface="Aptos"/>
              </a:rPr>
              <a:t>UZUN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2880360"/>
            <a:ext cx="2606040" cy="1508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0B1F3A"/>
                </a:solidFill>
                <a:latin typeface="Aptos"/>
              </a:rPr>
              <a:t>Audit entegrasyonu
Çok modlu retrieval
Kaynak onay akışı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4617720"/>
            <a:ext cx="6858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715000"/>
            <a:ext cx="8092440" cy="3657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B5FA7"/>
                </a:solidFill>
                <a:latin typeface="Aptos"/>
              </a:rPr>
              <a:t>Öncelik: OCR + kalıcı indeks + otomatik regression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8C7DC"/>
                </a:solidFill>
                <a:latin typeface="Aptos"/>
              </a:rPr>
              <a:t>CMS-RAG  /  CANLI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789920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5 adımda projenin bütün değerini göster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353312"/>
            <a:ext cx="10424160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CAD5E5"/>
                </a:solidFill>
                <a:latin typeface="Aptos"/>
              </a:rPr>
              <a:t>Toplam önerilen demo süresi: 3 dakika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1993392" cy="233172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313432"/>
            <a:ext cx="5943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166420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ADVENT nedir?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794760"/>
            <a:ext cx="1444752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858768"/>
            <a:ext cx="129844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RESMÎ KAYNAK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3200400"/>
            <a:ext cx="274320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53512" y="2057400"/>
            <a:ext cx="1993392" cy="233172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2313432"/>
            <a:ext cx="5943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971800"/>
            <a:ext cx="166420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Örnekleri var mı?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27832" y="3794760"/>
            <a:ext cx="1444752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3858768"/>
            <a:ext cx="129844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TAKIP BAĞLAMI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46904" y="3200400"/>
            <a:ext cx="274320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21224" y="2057400"/>
            <a:ext cx="1993392" cy="233172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2313432"/>
            <a:ext cx="5943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971800"/>
            <a:ext cx="166420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Görevleri neler?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95544" y="3794760"/>
            <a:ext cx="1444752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68696" y="3858768"/>
            <a:ext cx="129844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ÇOKLU KAYNAK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14616" y="3200400"/>
            <a:ext cx="274320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88936" y="2057400"/>
            <a:ext cx="1993392" cy="233172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2313432"/>
            <a:ext cx="5943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38BDF8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2971800"/>
            <a:ext cx="166420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NATO interoperability?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63256" y="3794760"/>
            <a:ext cx="1444752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858768"/>
            <a:ext cx="129844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OPEN SOURCE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482328" y="3200400"/>
            <a:ext cx="274320" cy="0"/>
          </a:xfrm>
          <a:prstGeom prst="line">
            <a:avLst/>
          </a:prstGeom>
          <a:ln w="1778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56648" y="2057400"/>
            <a:ext cx="1993392" cy="233172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42448" y="2313432"/>
            <a:ext cx="5943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971800"/>
            <a:ext cx="166420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Ben kimim?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30968" y="3794760"/>
            <a:ext cx="1444752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04120" y="3858768"/>
            <a:ext cx="1298448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F59E0B"/>
                </a:solidFill>
                <a:latin typeface="Aptos"/>
              </a:rPr>
              <a:t>GÜVENLI RET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074920"/>
            <a:ext cx="8183879" cy="4114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Gösterilecek ana unsur: cevaptan önce kanıt paketi.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5650992"/>
            <a:ext cx="62636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38BDF8"/>
                </a:solidFill>
                <a:latin typeface="Aptos"/>
              </a:rPr>
              <a:t>Belge · Sayfa · Otorite · Koleksiyon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6858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B8C7DC"/>
                </a:solidFill>
                <a:latin typeface="Aptos"/>
              </a:rPr>
              <a:t>CMS-RAG  /  SONUÇ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201168"/>
            <a:ext cx="5943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594360"/>
            <a:ext cx="1110996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6751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CMS-RAG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6583680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8BDF8"/>
                </a:solidFill>
                <a:latin typeface="Aptos Display"/>
              </a:rPr>
              <a:t>Cevap üreten değil,
kanıt zinciri sunan asistan.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520440" cy="3520440"/>
          </a:xfrm>
          <a:prstGeom prst="roundRect">
            <a:avLst/>
          </a:prstGeom>
          <a:solidFill>
            <a:srgbClr val="14345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09560" y="1691640"/>
            <a:ext cx="10515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82712" y="1755648"/>
            <a:ext cx="905255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746504"/>
            <a:ext cx="15087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Veri gizliliği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2404872"/>
            <a:ext cx="10515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2468879"/>
            <a:ext cx="905255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HYBRID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459736"/>
            <a:ext cx="15087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Yüksek retrieval kapsaması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3118104"/>
            <a:ext cx="10515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82712" y="3182112"/>
            <a:ext cx="905255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GROUNDED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172968"/>
            <a:ext cx="15087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Belge ve sayfa kanıtı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831335"/>
            <a:ext cx="1051560" cy="310896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EA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3895344"/>
            <a:ext cx="905255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750" b="1">
                <a:solidFill>
                  <a:srgbClr val="38BDF8"/>
                </a:solidFill>
                <a:latin typeface="Aptos"/>
              </a:rPr>
              <a:t>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886199"/>
            <a:ext cx="15087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33/33 + 4/4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709160"/>
            <a:ext cx="420624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Sorularınız?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9DB4D1"/>
                </a:solidFill>
                <a:latin typeface="Aptos"/>
              </a:rPr>
              <a:t>http://localhost:8501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5623560"/>
            <a:ext cx="3520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0">
                <a:solidFill>
                  <a:srgbClr val="9DB4D1"/>
                </a:solidFill>
                <a:latin typeface="Aptos"/>
              </a:rPr>
              <a:t>develop@d022506  ·  Sürüm 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