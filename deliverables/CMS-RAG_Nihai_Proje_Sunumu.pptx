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B8C7DC"/>
                </a:solidFill>
                <a:latin typeface="Aptos"/>
              </a:rPr>
              <a:t>CMS-RAG  /  NIHAI PROJE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43000"/>
            <a:ext cx="49377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Aptos"/>
              </a:rPr>
              <a:t>EVIDENCE-FIRST / LOCAL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536192"/>
            <a:ext cx="6126480" cy="1508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Aptos Display"/>
              </a:rPr>
              <a:t>CMS-RAG
Assistant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46120"/>
            <a:ext cx="5303520" cy="8229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C7D5E8"/>
                </a:solidFill>
                <a:latin typeface="Aptos"/>
              </a:rPr>
              <a:t>Savaş Yönetim Sistemi dokümanları için
kaynak kontrollü bilgi keşfi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1463040"/>
            <a:ext cx="1143000" cy="658368"/>
          </a:xfrm>
          <a:prstGeom prst="roundRect">
            <a:avLst/>
          </a:prstGeom>
          <a:solidFill>
            <a:srgbClr val="15365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1673352"/>
            <a:ext cx="1143000" cy="20116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PDF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18320" y="1143000"/>
            <a:ext cx="1143000" cy="658368"/>
          </a:xfrm>
          <a:prstGeom prst="roundRect">
            <a:avLst/>
          </a:prstGeom>
          <a:solidFill>
            <a:srgbClr val="15365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0" y="1353312"/>
            <a:ext cx="1143000" cy="20116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SNAPSHOT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87000" y="2743200"/>
            <a:ext cx="1143000" cy="658368"/>
          </a:xfrm>
          <a:prstGeom prst="roundRect">
            <a:avLst/>
          </a:prstGeom>
          <a:solidFill>
            <a:srgbClr val="15365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87000" y="2953512"/>
            <a:ext cx="1143000" cy="20116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RRF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58200" y="3337560"/>
            <a:ext cx="1143000" cy="658368"/>
          </a:xfrm>
          <a:prstGeom prst="roundRect">
            <a:avLst/>
          </a:prstGeom>
          <a:solidFill>
            <a:srgbClr val="15365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3547872"/>
            <a:ext cx="1143000" cy="20116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RAG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572000"/>
            <a:ext cx="1143000" cy="658368"/>
          </a:xfrm>
          <a:prstGeom prst="roundRect">
            <a:avLst/>
          </a:prstGeom>
          <a:solidFill>
            <a:srgbClr val="15365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03720" y="4782312"/>
            <a:ext cx="1143000" cy="20116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SOURCE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7882127" y="1472184"/>
            <a:ext cx="2103121" cy="320040"/>
          </a:xfrm>
          <a:prstGeom prst="line">
            <a:avLst/>
          </a:prstGeom>
          <a:ln w="16510">
            <a:solidFill>
              <a:srgbClr val="38BD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985248" y="1472184"/>
            <a:ext cx="868680" cy="1600200"/>
          </a:xfrm>
          <a:prstGeom prst="line">
            <a:avLst/>
          </a:prstGeom>
          <a:ln w="16510">
            <a:solidFill>
              <a:srgbClr val="38BD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9025128" y="3072384"/>
            <a:ext cx="1828800" cy="594360"/>
          </a:xfrm>
          <a:prstGeom prst="line">
            <a:avLst/>
          </a:prstGeom>
          <a:ln w="16510">
            <a:solidFill>
              <a:srgbClr val="38BD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7470648" y="3666744"/>
            <a:ext cx="1554480" cy="1234440"/>
          </a:xfrm>
          <a:prstGeom prst="line">
            <a:avLst/>
          </a:prstGeom>
          <a:ln w="16510">
            <a:solidFill>
              <a:srgbClr val="38BD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144768"/>
            <a:ext cx="640080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8FA8C8"/>
                </a:solidFill>
                <a:latin typeface="Aptos"/>
              </a:rPr>
              <a:t>Sürüm 1.1  ·  30.07.2026  ·  codex/offline-knowledge-base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YÖNETICI ÖZETI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Tek cümlede proje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353312"/>
            <a:ext cx="1042416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5F6B7A"/>
                </a:solidFill>
                <a:latin typeface="Aptos"/>
              </a:rPr>
              <a:t>Önceden hazırlanmış kamu bilgisini çevrimdışı, yerel ve kaynaklı cevaba dönüştürür.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24688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73152" cy="10515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2057400"/>
            <a:ext cx="214884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41 / 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542032"/>
            <a:ext cx="214884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OTOMATİK TEST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1920240"/>
            <a:ext cx="24688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46120" y="1920240"/>
            <a:ext cx="73152" cy="10515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47288" y="2057400"/>
            <a:ext cx="214884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8 / 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8" y="2542032"/>
            <a:ext cx="214884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RETRIEVAL KABULÜ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1920240"/>
            <a:ext cx="24688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52160" y="1920240"/>
            <a:ext cx="73152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53328" y="2057400"/>
            <a:ext cx="214884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67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3328" y="2542032"/>
            <a:ext cx="214884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KANIT PARÇASI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58200" y="1920240"/>
            <a:ext cx="24688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58200" y="1920240"/>
            <a:ext cx="73152" cy="10515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59368" y="2057400"/>
            <a:ext cx="214884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HTTP 200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59368" y="2542032"/>
            <a:ext cx="214884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CANLI SERVİS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429000"/>
            <a:ext cx="10927080" cy="201168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730752"/>
            <a:ext cx="210312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  <a:latin typeface="Aptos"/>
              </a:rPr>
              <a:t>Çözüm değeri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160520"/>
            <a:ext cx="6858000" cy="5029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"/>
              </a:rPr>
              <a:t>Yanıt + belge + sayfa + otorite + koleksiyon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2" y="4800600"/>
            <a:ext cx="7680960" cy="365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C7D5E8"/>
                </a:solidFill>
                <a:latin typeface="Aptos"/>
              </a:rPr>
              <a:t>Kullanıcı model çıktısını yalnız okumaz; kanıtı açıp denetler.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58200" y="3749039"/>
            <a:ext cx="237744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31352" y="3813048"/>
            <a:ext cx="223113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ÇEVRIMDIŞI ÇALIŞMA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0" y="4343400"/>
            <a:ext cx="192024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59952" y="4407408"/>
            <a:ext cx="177393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HAZIR SNAPSHOT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86800" y="4937760"/>
            <a:ext cx="192024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59952" y="5001768"/>
            <a:ext cx="177393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HIBRIT RETRIEVAL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Neden klasik arama veya yalnız LLM yetmiyor?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965960"/>
            <a:ext cx="34290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212848"/>
            <a:ext cx="50292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1B5FA7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670048"/>
            <a:ext cx="292608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Aptos"/>
              </a:rPr>
              <a:t>Dağınık bilgi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273552"/>
            <a:ext cx="2880360" cy="7772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F6B7A"/>
                </a:solidFill>
                <a:latin typeface="Aptos"/>
              </a:rPr>
              <a:t>Broşür, ürün sayfası ve açık referanslar farklı yerlerde.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7407" y="1965960"/>
            <a:ext cx="34290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7" y="2212848"/>
            <a:ext cx="50292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1B5FA7"/>
                </a:solidFill>
                <a:latin typeface="Apto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7" y="2670048"/>
            <a:ext cx="292608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Aptos"/>
              </a:rPr>
              <a:t>Bağlam kaybı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7" y="3273552"/>
            <a:ext cx="2880360" cy="7772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F6B7A"/>
                </a:solidFill>
                <a:latin typeface="Aptos"/>
              </a:rPr>
              <a:t>Anahtar kelime araması anlam yakınlığını kaçırabilir.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6448" y="1965960"/>
            <a:ext cx="34290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5048" y="2212848"/>
            <a:ext cx="50292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DC2626"/>
                </a:solidFill>
                <a:latin typeface="Apto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5048" y="2670048"/>
            <a:ext cx="292608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Aptos"/>
              </a:rPr>
              <a:t>Kaynaksız üretim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3273552"/>
            <a:ext cx="2880360" cy="7772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F6B7A"/>
                </a:solidFill>
                <a:latin typeface="Aptos"/>
              </a:rPr>
              <a:t>LLM, ürün yeteneği veya örnek uydurabilir.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892040"/>
            <a:ext cx="10927080" cy="777240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138928"/>
            <a:ext cx="1037844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600" b="1">
                <a:solidFill>
                  <a:srgbClr val="1B5FA7"/>
                </a:solidFill>
                <a:latin typeface="Aptos"/>
              </a:rPr>
              <a:t>Tasarım hedefi  →  Cevabı değil, cevabın kanıt zincirini güvenilir hâle getirmek.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KAYNAK GÜVENI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Kaynaklar birleşir; otoriteleri karışmaz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353312"/>
            <a:ext cx="1042416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5F6B7A"/>
                </a:solidFill>
                <a:latin typeface="Aptos"/>
              </a:rPr>
              <a:t>Her parça belge, sayfa, koleksiyon, otorite ve URL bilgisini korur.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1083564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96112" y="2176272"/>
            <a:ext cx="14173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2240279"/>
            <a:ext cx="12710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1B5FA7"/>
                </a:solidFill>
                <a:latin typeface="Aptos"/>
              </a:rPr>
              <a:t>OFFICIAL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2084831"/>
            <a:ext cx="29260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Resmî PDF + HAVELSAN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0" y="2103120"/>
            <a:ext cx="544068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F6B7A"/>
                </a:solidFill>
                <a:latin typeface="Aptos"/>
              </a:rPr>
              <a:t>Ürün ve ADVENT iddiaları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108960"/>
            <a:ext cx="1083564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96112" y="3410712"/>
            <a:ext cx="14173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" y="3474720"/>
            <a:ext cx="12710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16A34A"/>
                </a:solidFill>
                <a:latin typeface="Aptos"/>
              </a:rPr>
              <a:t>OPEN 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3319272"/>
            <a:ext cx="29260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NATO kamu referansı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0" y="3337560"/>
            <a:ext cx="544068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F6B7A"/>
                </a:solidFill>
                <a:latin typeface="Aptos"/>
              </a:rPr>
              <a:t>Genel C2 ve birlikte çalışabilirlik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343400"/>
            <a:ext cx="1083564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96112" y="4645152"/>
            <a:ext cx="14173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" y="4709160"/>
            <a:ext cx="12710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F59E0B"/>
                </a:solidFill>
                <a:latin typeface="Aptos"/>
              </a:rPr>
              <a:t>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4553712"/>
            <a:ext cx="29260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Birleşik görünüm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15000" y="4572000"/>
            <a:ext cx="544068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F6B7A"/>
                </a:solidFill>
                <a:latin typeface="Aptos"/>
              </a:rPr>
              <a:t>Kaynak kimliği korunarak geniş araştırma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715000"/>
            <a:ext cx="777240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B5FA7"/>
                </a:solidFill>
                <a:latin typeface="Aptos"/>
              </a:rPr>
              <a:t>Kapsam değiştiğinde konuşma belleği de ayrılır.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5715000"/>
            <a:ext cx="420624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1200" b="1">
                <a:solidFill>
                  <a:srgbClr val="16A34A"/>
                </a:solidFill>
                <a:latin typeface="Aptos"/>
              </a:rPr>
              <a:t>→ ADVENT geçmişi NATO cevabını kirletemez.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B8C7DC"/>
                </a:solidFill>
                <a:latin typeface="Aptos"/>
              </a:rPr>
              <a:t>CMS-RAG  /  MIMARI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 Display"/>
              </a:rPr>
              <a:t>Katmanlı ve testle korunan yapı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353312"/>
            <a:ext cx="1042416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CAD5E5"/>
                </a:solidFill>
                <a:latin typeface="Aptos"/>
              </a:rPr>
              <a:t>Bağımlılık yönü yukarıdan aşağı; domain teknoloji bağımsızdır.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09847" y="1783080"/>
            <a:ext cx="4572000" cy="566928"/>
          </a:xfrm>
          <a:prstGeom prst="roundRect">
            <a:avLst/>
          </a:prstGeom>
          <a:solidFill>
            <a:srgbClr val="1A3357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92727" y="1929384"/>
            <a:ext cx="19202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app.py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58687" y="1929384"/>
            <a:ext cx="22402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50" b="0">
                <a:solidFill>
                  <a:srgbClr val="D7E6F7"/>
                </a:solidFill>
                <a:latin typeface="Aptos"/>
              </a:rPr>
              <a:t>7 satırlık giriş noktası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5447" y="2560320"/>
            <a:ext cx="6400800" cy="566928"/>
          </a:xfrm>
          <a:prstGeom prst="roundRect">
            <a:avLst/>
          </a:prstGeom>
          <a:solidFill>
            <a:srgbClr val="16497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78327" y="2706624"/>
            <a:ext cx="19202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presentation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44287" y="2706624"/>
            <a:ext cx="40690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50" b="0">
                <a:solidFill>
                  <a:srgbClr val="D7E6F7"/>
                </a:solidFill>
                <a:latin typeface="Aptos"/>
              </a:rPr>
              <a:t>Streamlit · sohbet · sidebar · kanıt kartı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63927" y="3337560"/>
            <a:ext cx="7863840" cy="566928"/>
          </a:xfrm>
          <a:prstGeom prst="roundRect">
            <a:avLst/>
          </a:prstGeom>
          <a:solidFill>
            <a:srgbClr val="1B5FA7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46807" y="3483864"/>
            <a:ext cx="19202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application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2767" y="3483864"/>
            <a:ext cx="5532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50" b="0">
                <a:solidFill>
                  <a:srgbClr val="D7E6F7"/>
                </a:solidFill>
                <a:latin typeface="Aptos"/>
              </a:rPr>
              <a:t>RAG kullanım senaryosu orkestrasyonu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78127" y="4114800"/>
            <a:ext cx="9235440" cy="566928"/>
          </a:xfrm>
          <a:prstGeom prst="roundRect">
            <a:avLst/>
          </a:prstGeom>
          <a:solidFill>
            <a:srgbClr val="237BB9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61007" y="4261104"/>
            <a:ext cx="19202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domain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6967" y="4261104"/>
            <a:ext cx="69037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50" b="0">
                <a:solidFill>
                  <a:srgbClr val="D7E6F7"/>
                </a:solidFill>
                <a:latin typeface="Aptos"/>
              </a:rPr>
              <a:t>Modeller · sorgu kuralları · kanıt cevapları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3767" y="4892040"/>
            <a:ext cx="10424160" cy="566928"/>
          </a:xfrm>
          <a:prstGeom prst="roundRect">
            <a:avLst/>
          </a:prstGeom>
          <a:solidFill>
            <a:srgbClr val="2E93D2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6647" y="5038344"/>
            <a:ext cx="19202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infrastructure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32607" y="5038344"/>
            <a:ext cx="80924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50" b="0">
                <a:solidFill>
                  <a:srgbClr val="D7E6F7"/>
                </a:solidFill>
                <a:latin typeface="Aptos"/>
              </a:rPr>
              <a:t>PDF · manifest · FAISS · BM25 · reranker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5897880"/>
            <a:ext cx="3566160" cy="310896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000" b="1">
                <a:solidFill>
                  <a:srgbClr val="38BDF8"/>
                </a:solidFill>
                <a:latin typeface="Aptos"/>
              </a:rPr>
              <a:t>ArchitectureGuardTests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0" y="6236208"/>
            <a:ext cx="594360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900" b="0">
                <a:solidFill>
                  <a:srgbClr val="9DB4D1"/>
                </a:solidFill>
                <a:latin typeface="Aptos"/>
              </a:rPr>
              <a:t>ince giriş · bağımlılık yönü · Türkçe açıklama standardı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BELGE YAŞAM DÖNGÜSÜ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06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Araştırmadan hazır yerel kanıta kadar izlenebilir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706879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331720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633472"/>
            <a:ext cx="1487423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Araştır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017520"/>
            <a:ext cx="1487423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Birincil kamu kaynağı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346960" y="2907791"/>
            <a:ext cx="137159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484120" y="2194560"/>
            <a:ext cx="1706879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93848" y="2331720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93848" y="2633472"/>
            <a:ext cx="1487423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Kürasyon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93848" y="3017520"/>
            <a:ext cx="1487423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Kapsam + kaynak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90999" y="2907791"/>
            <a:ext cx="137161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328160" y="2194560"/>
            <a:ext cx="1706879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7888" y="2331720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7888" y="2633472"/>
            <a:ext cx="1487423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PDF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7888" y="3017520"/>
            <a:ext cx="1487423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Metin çıkarılabilir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35040" y="2907791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172200" y="2194560"/>
            <a:ext cx="1706879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81928" y="2331720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1928" y="2633472"/>
            <a:ext cx="1487423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Parçala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81928" y="3017520"/>
            <a:ext cx="1487423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Sayfa + overlap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879080" y="2907791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016239" y="2194560"/>
            <a:ext cx="1706879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25967" y="2331720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25967" y="2633472"/>
            <a:ext cx="1487423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Embedding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25967" y="3017520"/>
            <a:ext cx="1487423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Önceden hesapla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723120" y="2907791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860279" y="2194560"/>
            <a:ext cx="1706879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70007" y="2331720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70007" y="2633472"/>
            <a:ext cx="1487423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Snapshot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70007" y="3017520"/>
            <a:ext cx="1487423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Manifest + vektör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3232" y="4251960"/>
            <a:ext cx="5212080" cy="1115568"/>
          </a:xfrm>
          <a:prstGeom prst="roundRect">
            <a:avLst/>
          </a:prstGeom>
          <a:solidFill>
            <a:srgbClr val="EDF9F1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" y="4517136"/>
            <a:ext cx="164592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A34A"/>
                </a:solidFill>
                <a:latin typeface="Aptos"/>
              </a:rPr>
              <a:t>Normal kullanım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23160" y="4517136"/>
            <a:ext cx="3154680" cy="365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172033"/>
                </a:solidFill>
                <a:latin typeface="Aptos"/>
              </a:rPr>
              <a:t>Hazır snapshot yüklenir · web erişimi yok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44768" y="4251960"/>
            <a:ext cx="5212080" cy="1115568"/>
          </a:xfrm>
          <a:prstGeom prst="roundRect">
            <a:avLst/>
          </a:prstGeom>
          <a:solidFill>
            <a:srgbClr val="FFF6E5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0" y="4517136"/>
            <a:ext cx="146304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  <a:latin typeface="Aptos"/>
              </a:rPr>
              <a:t>Ek belge?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18120" y="4517136"/>
            <a:ext cx="3154680" cy="365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172033"/>
                </a:solidFill>
                <a:latin typeface="Aptos"/>
              </a:rPr>
              <a:t>SHA-256 kontrolü · yalnız ek belge indekslenir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RAG HATTI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07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Hibrit retrieval: anlam + terim + yeniden sıralama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144344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240279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542032"/>
            <a:ext cx="122398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Soru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26079"/>
            <a:ext cx="1223989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Türkçe doğal dil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083525" y="2816352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220685" y="2103120"/>
            <a:ext cx="144344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30413" y="2240279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0413" y="2542032"/>
            <a:ext cx="122398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Expand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0413" y="2926079"/>
            <a:ext cx="1223989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CMS sözlüğü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664131" y="2816352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801291" y="2103120"/>
            <a:ext cx="144344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11019" y="2240279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11019" y="2542032"/>
            <a:ext cx="122398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Semantic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11019" y="2926079"/>
            <a:ext cx="1223989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BGE + FAISS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244737" y="2816352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381897" y="2103120"/>
            <a:ext cx="144344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91625" y="2240279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91625" y="2542032"/>
            <a:ext cx="122398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BM25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91625" y="2926079"/>
            <a:ext cx="1223989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Kesin terim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25342" y="2816352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962502" y="2103120"/>
            <a:ext cx="144344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72230" y="2240279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72230" y="2542032"/>
            <a:ext cx="122398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RRF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2230" y="2926079"/>
            <a:ext cx="1223989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Sıra füzyonu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05948" y="2816352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543108" y="2103120"/>
            <a:ext cx="144344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52836" y="2240279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2836" y="2542032"/>
            <a:ext cx="122398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Rerank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2836" y="2926079"/>
            <a:ext cx="1223989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Cross-encoder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986554" y="2816352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10123714" y="2103120"/>
            <a:ext cx="144344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33442" y="2240279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33442" y="2542032"/>
            <a:ext cx="122398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Kanıt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33442" y="2926079"/>
            <a:ext cx="1223989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Sayfa birleştirme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4251960"/>
            <a:ext cx="1371600" cy="29260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B5FA7"/>
                </a:solidFill>
                <a:latin typeface="Aptos"/>
              </a:rPr>
              <a:t>Semantic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48840" y="4251960"/>
            <a:ext cx="388620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5F6B7A"/>
                </a:solidFill>
                <a:latin typeface="Aptos"/>
              </a:rPr>
              <a:t>“Savaş gemisi” ↔ “surface platform” anlam yakınlığı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5840" y="4818888"/>
            <a:ext cx="1371600" cy="29260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  <a:latin typeface="Aptos"/>
              </a:rPr>
              <a:t>BM25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48840" y="4818888"/>
            <a:ext cx="388620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5F6B7A"/>
                </a:solidFill>
                <a:latin typeface="Aptos"/>
              </a:rPr>
              <a:t>ADVENT · MÜREN · Link 11 · Link 16 kesin eşleşmesi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720840" y="4160520"/>
            <a:ext cx="4434840" cy="114300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040880" y="4407408"/>
            <a:ext cx="914400" cy="34747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38BDF8"/>
                </a:solidFill>
                <a:latin typeface="Aptos"/>
              </a:rPr>
              <a:t>RRF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92440" y="4425696"/>
            <a:ext cx="219456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1 / (60 + sıra)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59168" y="4892040"/>
            <a:ext cx="361188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0">
                <a:solidFill>
                  <a:srgbClr val="C7D5E8"/>
                </a:solidFill>
                <a:latin typeface="Aptos"/>
              </a:rPr>
              <a:t>Farklı puan ölçeklerini istikrarlı birleştirir.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CEVAP GÜVENILIRLIĞI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08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Model en son adım; karar zincirinin tamamı değil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874519"/>
            <a:ext cx="342900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2039112"/>
            <a:ext cx="411480" cy="32918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B5FA7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6736" y="2020824"/>
            <a:ext cx="24688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İndeks var mı?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6736" y="2532887"/>
            <a:ext cx="2423160" cy="42062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F6B7A"/>
                </a:solidFill>
                <a:latin typeface="Aptos"/>
              </a:rPr>
              <a:t>Yoksa yükleme yönlendirmesi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5696" y="1874519"/>
            <a:ext cx="342900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8576" y="2039112"/>
            <a:ext cx="411480" cy="32918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B5FA7"/>
                </a:solidFill>
                <a:latin typeface="Apto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064" y="2020824"/>
            <a:ext cx="24688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Alan içi mi?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84064" y="2532887"/>
            <a:ext cx="2423160" cy="42062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F6B7A"/>
                </a:solidFill>
                <a:latin typeface="Aptos"/>
              </a:rPr>
              <a:t>Kişisel sohbet → güvenli ret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93024" y="1874519"/>
            <a:ext cx="342900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75904" y="2039112"/>
            <a:ext cx="411480" cy="32918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6A34A"/>
                </a:solidFill>
                <a:latin typeface="Apto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51392" y="2020824"/>
            <a:ext cx="24688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Kesin kanıt var mı?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51392" y="2532887"/>
            <a:ext cx="2423160" cy="42062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F6B7A"/>
                </a:solidFill>
                <a:latin typeface="Aptos"/>
              </a:rPr>
              <a:t>Deterministik kaynaklı cevap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703320"/>
            <a:ext cx="342900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7" y="3867911"/>
            <a:ext cx="411480" cy="32918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B5FA7"/>
                </a:solidFill>
                <a:latin typeface="Apto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16736" y="3849624"/>
            <a:ext cx="24688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Retrieval yeterli mi?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16736" y="4361688"/>
            <a:ext cx="2423160" cy="42062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F6B7A"/>
                </a:solidFill>
                <a:latin typeface="Aptos"/>
              </a:rPr>
              <a:t>Kapsam filtreli adaylar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25696" y="3703320"/>
            <a:ext cx="342900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08576" y="3867911"/>
            <a:ext cx="411480" cy="32918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B5FA7"/>
                </a:solidFill>
                <a:latin typeface="Apto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4064" y="3849624"/>
            <a:ext cx="24688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Ollama üretimi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84064" y="4361688"/>
            <a:ext cx="2423160" cy="42062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F6B7A"/>
                </a:solidFill>
                <a:latin typeface="Aptos"/>
              </a:rPr>
              <a:t>≤55 kelime · düşük sıcaklık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93024" y="3703320"/>
            <a:ext cx="342900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75904" y="3867911"/>
            <a:ext cx="411480" cy="32918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6A34A"/>
                </a:solidFill>
                <a:latin typeface="Apto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51392" y="3849624"/>
            <a:ext cx="24688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Kaynak kontrolü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51392" y="4361688"/>
            <a:ext cx="2423160" cy="42062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F6B7A"/>
                </a:solidFill>
                <a:latin typeface="Aptos"/>
              </a:rPr>
              <a:t>[SOURCE n] + kanıt kartı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5715000"/>
            <a:ext cx="2743200" cy="29260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DC2626"/>
                </a:solidFill>
                <a:latin typeface="Aptos"/>
              </a:rPr>
              <a:t>Servis hatası ≠ kanıt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5715000"/>
            <a:ext cx="790956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5F6B7A"/>
                </a:solidFill>
                <a:latin typeface="Aptos"/>
              </a:rPr>
              <a:t>Ollama erişilemiyorsa retrieval sonuçları kullanıcıya kaynak diye gösterilmez.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B8C7DC"/>
                </a:solidFill>
                <a:latin typeface="Aptos"/>
              </a:rPr>
              <a:t>CMS-RAG  /  KONUŞMA BELLEĞI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FFFFFF"/>
                </a:solidFill>
                <a:latin typeface="Aptos"/>
              </a:rPr>
              <a:t>09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 Display"/>
              </a:rPr>
              <a:t>Takip sorusu anlaşılır; kapsamlar birbirine sızmaz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74519"/>
            <a:ext cx="4983480" cy="731520"/>
          </a:xfrm>
          <a:prstGeom prst="roundRect">
            <a:avLst/>
          </a:prstGeom>
          <a:solidFill>
            <a:srgbClr val="15365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84831"/>
            <a:ext cx="44805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ADVENT nedir?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743200"/>
            <a:ext cx="4983480" cy="868680"/>
          </a:xfrm>
          <a:prstGeom prst="roundRect">
            <a:avLst/>
          </a:prstGeom>
          <a:solidFill>
            <a:srgbClr val="1B416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44368"/>
            <a:ext cx="44805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Örnekleri var mı?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3310128"/>
            <a:ext cx="1920240" cy="1828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38BDF8"/>
                </a:solidFill>
                <a:latin typeface="Aptos"/>
              </a:rPr>
              <a:t>← aynı official geçmişi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794760"/>
            <a:ext cx="4983480" cy="868680"/>
          </a:xfrm>
          <a:prstGeom prst="roundRect">
            <a:avLst/>
          </a:prstGeom>
          <a:solidFill>
            <a:srgbClr val="174A46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05072"/>
            <a:ext cx="44805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NATO interoperability?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680" y="4370832"/>
            <a:ext cx="2194560" cy="1828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7EE2BA"/>
                </a:solidFill>
                <a:latin typeface="Aptos"/>
              </a:rPr>
              <a:t>← open_source: yeni bağlam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89320" y="1783080"/>
            <a:ext cx="73152" cy="32461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2743200"/>
            <a:ext cx="731520" cy="7315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00" b="1">
                <a:solidFill>
                  <a:srgbClr val="F59E0B"/>
                </a:solidFill>
                <a:latin typeface="Aptos"/>
              </a:rPr>
              <a:t>SCOPE
WALL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86600" y="1965960"/>
            <a:ext cx="4160520" cy="1143000"/>
          </a:xfrm>
          <a:prstGeom prst="roundRect">
            <a:avLst/>
          </a:prstGeom>
          <a:solidFill>
            <a:srgbClr val="13335A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2212848"/>
            <a:ext cx="35661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official history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2624328"/>
            <a:ext cx="356616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AFC2DA"/>
                </a:solidFill>
                <a:latin typeface="Aptos"/>
              </a:rPr>
              <a:t>ADVENT ürün bağlamı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86600" y="3456432"/>
            <a:ext cx="4160520" cy="1143000"/>
          </a:xfrm>
          <a:prstGeom prst="roundRect">
            <a:avLst/>
          </a:prstGeom>
          <a:solidFill>
            <a:srgbClr val="174A46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60920" y="3703320"/>
            <a:ext cx="35661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open_source history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4114800"/>
            <a:ext cx="356616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BDE7D5"/>
                </a:solidFill>
                <a:latin typeface="Aptos"/>
              </a:rPr>
              <a:t>NATO genel birlikte çalışabilirlik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5715000"/>
            <a:ext cx="630936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38BDF8"/>
                </a:solidFill>
                <a:latin typeface="Aptos"/>
              </a:rPr>
              <a:t>En fazla 3 tur · kapsam etiketli · bounded context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KULLANICI DENEYIMI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10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Arayüzün ana ürünü: görünür kanıt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691640"/>
            <a:ext cx="1088136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331720" cy="425196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38528"/>
            <a:ext cx="187451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◆ Knowledge Operations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2606040"/>
            <a:ext cx="150876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670048"/>
            <a:ext cx="136245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KAPSAM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3182112"/>
            <a:ext cx="150876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3246120"/>
            <a:ext cx="136245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PDF YÜKLE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120" y="3758184"/>
            <a:ext cx="150876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822192"/>
            <a:ext cx="136245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İNDEKSI YENILE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663440"/>
            <a:ext cx="1737360" cy="7772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AFC2DA"/>
                </a:solidFill>
                <a:latin typeface="Aptos"/>
              </a:rPr>
              <a:t>Model · qwen2.5:3b
Belge · 1
Arama · Hybrid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938528"/>
            <a:ext cx="438912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400" b="1">
                <a:solidFill>
                  <a:srgbClr val="0B1F3A"/>
                </a:solidFill>
                <a:latin typeface="Aptos"/>
              </a:rPr>
              <a:t>Komuta Bilgi Keşfi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37560" y="2697480"/>
            <a:ext cx="7680960" cy="566928"/>
          </a:xfrm>
          <a:prstGeom prst="roundRect">
            <a:avLst/>
          </a:prstGeom>
          <a:solidFill>
            <a:srgbClr val="F3F6FA"/>
          </a:solidFill>
          <a:ln w="12700">
            <a:solidFill>
              <a:srgbClr val="F3F6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66160" y="2880360"/>
            <a:ext cx="7040880" cy="20116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172033"/>
                </a:solidFill>
                <a:latin typeface="Aptos"/>
              </a:rPr>
              <a:t>ADVENT nedir?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37560" y="3456432"/>
            <a:ext cx="7680960" cy="960120"/>
          </a:xfrm>
          <a:prstGeom prst="roundRect">
            <a:avLst/>
          </a:prstGeom>
          <a:solidFill>
            <a:srgbClr val="F7FAFE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66160" y="3639312"/>
            <a:ext cx="1828800" cy="1828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1B5FA7"/>
                </a:solidFill>
                <a:latin typeface="Aptos"/>
              </a:rPr>
              <a:t>KAYNAKLI YANIT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931920"/>
            <a:ext cx="6995160" cy="29260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172033"/>
                </a:solidFill>
                <a:latin typeface="Aptos"/>
              </a:rPr>
              <a:t>ADVENT, farklı operasyonel ortamlar için uyarlanabilen bir CMS ürün ailesidir [SOURCE 1].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66160" y="4617720"/>
            <a:ext cx="7223760" cy="594360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94760" y="4809744"/>
            <a:ext cx="6766560" cy="2103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B5FA7"/>
                </a:solidFill>
                <a:latin typeface="Aptos"/>
              </a:rPr>
              <a:t>Kanıt paketi · advent_cms.pdf · Sayfa 4 · official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5532120"/>
            <a:ext cx="16459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6A34A"/>
                </a:solidFill>
                <a:latin typeface="Aptos"/>
              </a:rPr>
              <a:t>Akışlı yazım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5532120"/>
            <a:ext cx="2103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B5FA7"/>
                </a:solidFill>
                <a:latin typeface="Aptos"/>
              </a:rPr>
              <a:t>Kalıcı kaynak kartı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5532120"/>
            <a:ext cx="1463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Aptos"/>
              </a:rPr>
              <a:t>Güvenli ret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TEST VE KABUL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11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“Çalışıyor” değil; ölçülmüş ve yeniden üretilmiş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828800"/>
            <a:ext cx="2286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28800"/>
            <a:ext cx="73152" cy="10515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965960"/>
            <a:ext cx="196596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33 / 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450592"/>
            <a:ext cx="19659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90672" y="1828800"/>
            <a:ext cx="2286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90672" y="1828800"/>
            <a:ext cx="73152" cy="10515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965960"/>
            <a:ext cx="196596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4 /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450592"/>
            <a:ext cx="19659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RETRIEVAL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22976" y="1828800"/>
            <a:ext cx="2286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22976" y="1828800"/>
            <a:ext cx="73152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24144" y="1965960"/>
            <a:ext cx="196596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34 / 34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24144" y="2450592"/>
            <a:ext cx="19659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PDF SAYFASI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79" y="1828800"/>
            <a:ext cx="2286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79" y="1828800"/>
            <a:ext cx="73152" cy="10515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6448" y="1965960"/>
            <a:ext cx="196596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56448" y="2450592"/>
            <a:ext cx="19659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EKSİK KAYNAK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337560"/>
            <a:ext cx="13258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F6B7A"/>
                </a:solidFill>
                <a:latin typeface="Aptos"/>
              </a:rPr>
              <a:t>Storage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48840" y="3364991"/>
            <a:ext cx="6949440" cy="164592"/>
          </a:xfrm>
          <a:prstGeom prst="rect">
            <a:avLst/>
          </a:prstGeom>
          <a:solidFill>
            <a:srgbClr val="E5EAF0"/>
          </a:solidFill>
          <a:ln w="12700">
            <a:solidFill>
              <a:srgbClr val="E5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148840" y="3364991"/>
            <a:ext cx="3474720" cy="164592"/>
          </a:xfrm>
          <a:prstGeom prst="rect">
            <a:avLst/>
          </a:prstGeom>
          <a:solidFill>
            <a:srgbClr val="1B5FA7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0" y="3328416"/>
            <a:ext cx="4114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B1F3A"/>
                </a:solidFill>
                <a:latin typeface="Aptos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840480"/>
            <a:ext cx="13258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F6B7A"/>
                </a:solidFill>
                <a:latin typeface="Aptos"/>
              </a:rPr>
              <a:t>Engine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48840" y="3867912"/>
            <a:ext cx="6949440" cy="164592"/>
          </a:xfrm>
          <a:prstGeom prst="rect">
            <a:avLst/>
          </a:prstGeom>
          <a:solidFill>
            <a:srgbClr val="E5EAF0"/>
          </a:solidFill>
          <a:ln w="12700">
            <a:solidFill>
              <a:srgbClr val="E5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148840" y="3867912"/>
            <a:ext cx="6949440" cy="16459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5440" y="3831336"/>
            <a:ext cx="4114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B1F3A"/>
                </a:solidFill>
                <a:latin typeface="Aptos"/>
              </a:rPr>
              <a:t>14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343400"/>
            <a:ext cx="13258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F6B7A"/>
                </a:solidFill>
                <a:latin typeface="Aptos"/>
              </a:rPr>
              <a:t>UI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48840" y="4370832"/>
            <a:ext cx="6949440" cy="164592"/>
          </a:xfrm>
          <a:prstGeom prst="rect">
            <a:avLst/>
          </a:prstGeom>
          <a:solidFill>
            <a:srgbClr val="E5EAF0"/>
          </a:solidFill>
          <a:ln w="12700">
            <a:solidFill>
              <a:srgbClr val="E5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148840" y="4370832"/>
            <a:ext cx="1985554" cy="16459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5440" y="4334256"/>
            <a:ext cx="4114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B1F3A"/>
                </a:solidFill>
                <a:latin typeface="Aptos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846320"/>
            <a:ext cx="13258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F6B7A"/>
                </a:solidFill>
                <a:latin typeface="Aptos"/>
              </a:rPr>
              <a:t>Ingest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48840" y="4873752"/>
            <a:ext cx="6949440" cy="164592"/>
          </a:xfrm>
          <a:prstGeom prst="rect">
            <a:avLst/>
          </a:prstGeom>
          <a:solidFill>
            <a:srgbClr val="E5EAF0"/>
          </a:solidFill>
          <a:ln w="12700">
            <a:solidFill>
              <a:srgbClr val="E5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148840" y="4873752"/>
            <a:ext cx="1985554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5440" y="4837176"/>
            <a:ext cx="4114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B1F3A"/>
                </a:solidFill>
                <a:latin typeface="Aptos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349240"/>
            <a:ext cx="13258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F6B7A"/>
                </a:solidFill>
                <a:latin typeface="Aptos"/>
              </a:rPr>
              <a:t>Architecture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148840" y="5376672"/>
            <a:ext cx="6949440" cy="164592"/>
          </a:xfrm>
          <a:prstGeom prst="rect">
            <a:avLst/>
          </a:prstGeom>
          <a:solidFill>
            <a:srgbClr val="E5EAF0"/>
          </a:solidFill>
          <a:ln w="12700">
            <a:solidFill>
              <a:srgbClr val="E5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148840" y="5376672"/>
            <a:ext cx="1489165" cy="16459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35440" y="5340096"/>
            <a:ext cx="4114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B1F3A"/>
                </a:solidFill>
                <a:latin typeface="Aptos"/>
              </a:rPr>
              <a:t>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921240" y="3310128"/>
            <a:ext cx="1417320" cy="228600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58400" y="3657600"/>
            <a:ext cx="114300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38BDF8"/>
                </a:solidFill>
                <a:latin typeface="Aptos"/>
              </a:rPr>
              <a:t>GIT
ARCHIVE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0" y="4498848"/>
            <a:ext cx="1143000" cy="5486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Aptos"/>
              </a:rPr>
              <a:t>temiz kopyada
aynı sonuç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B8C7DC"/>
                </a:solidFill>
                <a:latin typeface="Aptos"/>
              </a:rPr>
              <a:t>CMS-RAG  /  GÜVENLIK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FFFFFF"/>
                </a:solidFill>
                <a:latin typeface="Aptos"/>
              </a:rPr>
              <a:t>12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 Display"/>
              </a:rPr>
              <a:t>Yerel çalışma + kontrollü kaynak + güvenli hata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74519"/>
            <a:ext cx="3429000" cy="128016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86968" y="2075688"/>
            <a:ext cx="9601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39696"/>
            <a:ext cx="8138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LOCAL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532887"/>
            <a:ext cx="292608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Belge metni bulut LLM'e gitmez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53128" y="1874519"/>
            <a:ext cx="3429000" cy="128016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157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54296" y="2075688"/>
            <a:ext cx="9601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27448" y="2139696"/>
            <a:ext cx="8138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HASH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4296" y="2532887"/>
            <a:ext cx="292608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SHA-256 duplicate ve bütünlük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0456" y="1874519"/>
            <a:ext cx="3429000" cy="128016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21624" y="2075688"/>
            <a:ext cx="9601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94776" y="2139696"/>
            <a:ext cx="8138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SCOPE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21624" y="2532887"/>
            <a:ext cx="292608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Koleksiyon ve geçmiş izolasyonu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566160"/>
            <a:ext cx="3429000" cy="128016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157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86968" y="3767328"/>
            <a:ext cx="9601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831336"/>
            <a:ext cx="8138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ESCAPE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4224528"/>
            <a:ext cx="292608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Kaynak HTML çıktısı güvenli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3128" y="3566160"/>
            <a:ext cx="3429000" cy="128016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157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54296" y="3767328"/>
            <a:ext cx="9601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27448" y="3831336"/>
            <a:ext cx="8138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REJECT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54296" y="4224528"/>
            <a:ext cx="292608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Yetersiz kanıtta açık ret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0456" y="3566160"/>
            <a:ext cx="3429000" cy="128016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157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421624" y="3767328"/>
            <a:ext cx="9601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94776" y="3831336"/>
            <a:ext cx="8138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PATH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21624" y="4224528"/>
            <a:ext cx="292608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Manifest traversal engeli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5532120"/>
            <a:ext cx="10012680" cy="365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59E0B"/>
                </a:solidFill>
                <a:latin typeface="Aptos"/>
              </a:rPr>
              <a:t>Üretime geçişte: RBAC · disk şifreleme · audit · zararlı dosya taraması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GIT VE SÜRÜMLEME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13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Geçmiş korunur; değişiklikler kontrollü akar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84248"/>
            <a:ext cx="10515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B1F3A"/>
                </a:solidFill>
                <a:latin typeface="Aptos"/>
              </a:rPr>
              <a:t>main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737360" y="2103120"/>
            <a:ext cx="9418320" cy="0"/>
          </a:xfrm>
          <a:prstGeom prst="line">
            <a:avLst/>
          </a:prstGeom>
          <a:ln w="15240">
            <a:solidFill>
              <a:srgbClr val="C9D4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990088"/>
            <a:ext cx="10515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1B5FA7"/>
                </a:solidFill>
                <a:latin typeface="Aptos"/>
              </a:rPr>
              <a:t>develop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37360" y="3108960"/>
            <a:ext cx="9418320" cy="0"/>
          </a:xfrm>
          <a:prstGeom prst="line">
            <a:avLst/>
          </a:prstGeom>
          <a:ln w="15240">
            <a:solidFill>
              <a:srgbClr val="C9D4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995928"/>
            <a:ext cx="10515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38BDF8"/>
                </a:solidFill>
                <a:latin typeface="Aptos"/>
              </a:rPr>
              <a:t>feature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737360" y="4114800"/>
            <a:ext cx="9418320" cy="0"/>
          </a:xfrm>
          <a:prstGeom prst="line">
            <a:avLst/>
          </a:prstGeom>
          <a:ln w="15240">
            <a:solidFill>
              <a:srgbClr val="C9D4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5001768"/>
            <a:ext cx="10515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  <a:latin typeface="Aptos"/>
              </a:rPr>
              <a:t>release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737360" y="5120640"/>
            <a:ext cx="9418320" cy="0"/>
          </a:xfrm>
          <a:prstGeom prst="line">
            <a:avLst/>
          </a:prstGeom>
          <a:ln w="15240">
            <a:solidFill>
              <a:srgbClr val="C9D4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2194560" y="1956816"/>
            <a:ext cx="201168" cy="201168"/>
          </a:xfrm>
          <a:prstGeom prst="ellipse">
            <a:avLst/>
          </a:prstGeom>
          <a:solidFill>
            <a:srgbClr val="0B1F3A"/>
          </a:solidFill>
          <a:ln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0" y="2240280"/>
            <a:ext cx="960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0B1F3A"/>
                </a:solidFill>
                <a:latin typeface="Aptos"/>
              </a:rPr>
              <a:t>legacy</a:t>
            </a:r>
          </a:p>
        </p:txBody>
      </p:sp>
      <p:sp>
        <p:nvSpPr>
          <p:cNvPr id="16" name="Oval 15"/>
          <p:cNvSpPr/>
          <p:nvPr/>
        </p:nvSpPr>
        <p:spPr>
          <a:xfrm>
            <a:off x="3291840" y="2962656"/>
            <a:ext cx="201168" cy="201168"/>
          </a:xfrm>
          <a:prstGeom prst="ellipse">
            <a:avLst/>
          </a:prstGeom>
          <a:solidFill>
            <a:srgbClr val="1B5FA7"/>
          </a:solidFill>
          <a:ln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0" y="3246120"/>
            <a:ext cx="960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1B5FA7"/>
                </a:solidFill>
                <a:latin typeface="Aptos"/>
              </a:rPr>
              <a:t>4dbf3f8</a:t>
            </a:r>
          </a:p>
        </p:txBody>
      </p:sp>
      <p:sp>
        <p:nvSpPr>
          <p:cNvPr id="18" name="Oval 17"/>
          <p:cNvSpPr/>
          <p:nvPr/>
        </p:nvSpPr>
        <p:spPr>
          <a:xfrm>
            <a:off x="4572000" y="3968496"/>
            <a:ext cx="201168" cy="201168"/>
          </a:xfrm>
          <a:prstGeom prst="ellipse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06240" y="4251960"/>
            <a:ext cx="960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43b38ae</a:t>
            </a:r>
          </a:p>
        </p:txBody>
      </p:sp>
      <p:sp>
        <p:nvSpPr>
          <p:cNvPr id="20" name="Oval 19"/>
          <p:cNvSpPr/>
          <p:nvPr/>
        </p:nvSpPr>
        <p:spPr>
          <a:xfrm>
            <a:off x="6217920" y="3968496"/>
            <a:ext cx="201168" cy="201168"/>
          </a:xfrm>
          <a:prstGeom prst="ellipse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59" y="4251960"/>
            <a:ext cx="960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0e72e16</a:t>
            </a:r>
          </a:p>
        </p:txBody>
      </p:sp>
      <p:sp>
        <p:nvSpPr>
          <p:cNvPr id="22" name="Oval 21"/>
          <p:cNvSpPr/>
          <p:nvPr/>
        </p:nvSpPr>
        <p:spPr>
          <a:xfrm>
            <a:off x="7635240" y="2962656"/>
            <a:ext cx="201168" cy="201168"/>
          </a:xfrm>
          <a:prstGeom prst="ellipse">
            <a:avLst/>
          </a:prstGeom>
          <a:solidFill>
            <a:srgbClr val="1B5FA7"/>
          </a:solidFill>
          <a:ln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9479" y="3246120"/>
            <a:ext cx="960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1B5FA7"/>
                </a:solidFill>
                <a:latin typeface="Aptos"/>
              </a:rPr>
              <a:t>d022506</a:t>
            </a:r>
          </a:p>
        </p:txBody>
      </p:sp>
      <p:sp>
        <p:nvSpPr>
          <p:cNvPr id="24" name="Oval 23"/>
          <p:cNvSpPr/>
          <p:nvPr/>
        </p:nvSpPr>
        <p:spPr>
          <a:xfrm>
            <a:off x="9509760" y="4974336"/>
            <a:ext cx="201168" cy="201168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0" y="5257800"/>
            <a:ext cx="960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F59E0B"/>
                </a:solidFill>
                <a:latin typeface="Aptos"/>
              </a:rPr>
              <a:t>release/*</a:t>
            </a:r>
          </a:p>
        </p:txBody>
      </p:sp>
      <p:sp>
        <p:nvSpPr>
          <p:cNvPr id="26" name="Oval 25"/>
          <p:cNvSpPr/>
          <p:nvPr/>
        </p:nvSpPr>
        <p:spPr>
          <a:xfrm>
            <a:off x="10652760" y="1956816"/>
            <a:ext cx="201168" cy="201168"/>
          </a:xfrm>
          <a:prstGeom prst="ellipse">
            <a:avLst/>
          </a:prstGeom>
          <a:solidFill>
            <a:srgbClr val="0B1F3A"/>
          </a:solidFill>
          <a:ln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87000" y="2240280"/>
            <a:ext cx="960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0B1F3A"/>
                </a:solidFill>
                <a:latin typeface="Aptos"/>
              </a:rPr>
              <a:t>v1.x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291840" y="3063240"/>
            <a:ext cx="1280160" cy="1005840"/>
          </a:xfrm>
          <a:prstGeom prst="line">
            <a:avLst/>
          </a:prstGeom>
          <a:ln w="1905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6318504" y="3063240"/>
            <a:ext cx="1316736" cy="1005840"/>
          </a:xfrm>
          <a:prstGeom prst="line">
            <a:avLst/>
          </a:prstGeom>
          <a:ln w="19050">
            <a:solidFill>
              <a:srgbClr val="1B5F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726679" y="3063240"/>
            <a:ext cx="1783081" cy="2011680"/>
          </a:xfrm>
          <a:prstGeom prst="line">
            <a:avLst/>
          </a:prstGeom>
          <a:ln w="1905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601200" y="2057400"/>
            <a:ext cx="1051560" cy="3017520"/>
          </a:xfrm>
          <a:prstGeom prst="line">
            <a:avLst/>
          </a:prstGeom>
          <a:ln w="19050">
            <a:solidFill>
              <a:srgbClr val="0B1F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1828800" y="5806440"/>
            <a:ext cx="301752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0B1F3A"/>
                </a:solidFill>
                <a:latin typeface="Aptos"/>
              </a:rPr>
              <a:t>main: yalnız yayımlanmış sürüm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5806440"/>
            <a:ext cx="292608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B5FA7"/>
                </a:solidFill>
                <a:latin typeface="Aptos"/>
              </a:rPr>
              <a:t>develop: entegrasyon tabanı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9520" y="5806440"/>
            <a:ext cx="347472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F59E0B"/>
                </a:solidFill>
                <a:latin typeface="Aptos"/>
              </a:rPr>
              <a:t>feature/release: inceleme + kabul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ÇALIŞTIRMA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14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Yerel kurulum: iki servis, tek tarayıcı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74519"/>
            <a:ext cx="342900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59436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70048"/>
            <a:ext cx="288036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Aptos"/>
              </a:rPr>
              <a:t>Python ortamı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3310128"/>
            <a:ext cx="3017520" cy="100584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3547872"/>
            <a:ext cx="265176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19" b="0">
                <a:solidFill>
                  <a:srgbClr val="FFFFFF"/>
                </a:solidFill>
                <a:latin typeface="Cascadia Mono"/>
              </a:rPr>
              <a:t>python -m venv .venv
pip install -r requirements.txt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874519"/>
            <a:ext cx="342900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148840"/>
            <a:ext cx="59436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670048"/>
            <a:ext cx="288036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Aptos"/>
              </a:rPr>
              <a:t>Yerel model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45152" y="3310128"/>
            <a:ext cx="3017520" cy="100584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18888" y="3547872"/>
            <a:ext cx="265176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19" b="0">
                <a:solidFill>
                  <a:srgbClr val="FFFFFF"/>
                </a:solidFill>
                <a:latin typeface="Cascadia Mono"/>
              </a:rPr>
              <a:t>ollama pull qwen2.5:3b
ollama serve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874519"/>
            <a:ext cx="342900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2148840"/>
            <a:ext cx="59436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670048"/>
            <a:ext cx="288036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Aptos"/>
              </a:rPr>
              <a:t>Uygulama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94192" y="3310128"/>
            <a:ext cx="3017520" cy="100584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67928" y="3547872"/>
            <a:ext cx="265176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19" b="0">
                <a:solidFill>
                  <a:srgbClr val="FFFFFF"/>
                </a:solidFill>
                <a:latin typeface="Cascadia Mono"/>
              </a:rPr>
              <a:t>python -m streamlit run app.py
localhost:8501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102352"/>
            <a:ext cx="10927080" cy="713232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321808"/>
            <a:ext cx="420624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B5FA7"/>
                </a:solidFill>
                <a:latin typeface="Aptos"/>
              </a:rPr>
              <a:t>Offline mod  ·  $env:CMS_RAG_OFFLINE="1"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0" y="5321808"/>
            <a:ext cx="52578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B5FA7"/>
                </a:solidFill>
                <a:latin typeface="Aptos"/>
              </a:rPr>
              <a:t>Kalite modu  ·  $env:CMS_RAG_MODEL="qwen2.5:7b"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YOL HARITASI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15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MVP tamamlandı; kurumsal ölçek için sıradaki adımlar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342900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63040" y="2148840"/>
            <a:ext cx="1874519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36192" y="2212848"/>
            <a:ext cx="17282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1B5FA7"/>
                </a:solidFill>
                <a:latin typeface="Aptos"/>
              </a:rPr>
              <a:t>YAKIN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880360"/>
            <a:ext cx="2606040" cy="1508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600" b="1">
                <a:solidFill>
                  <a:srgbClr val="0B1F3A"/>
                </a:solidFill>
                <a:latin typeface="Aptos"/>
              </a:rPr>
              <a:t>OCR
Kaynak drift kontrolü
CI kabul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39112" y="4617720"/>
            <a:ext cx="68580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1B5FA7"/>
                </a:solidFill>
                <a:latin typeface="Aptos"/>
              </a:rPr>
              <a:t>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828800"/>
            <a:ext cx="342900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12079" y="2148840"/>
            <a:ext cx="1874519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85231" y="2212848"/>
            <a:ext cx="17282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16A34A"/>
                </a:solidFill>
                <a:latin typeface="Aptos"/>
              </a:rPr>
              <a:t>ORTA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880360"/>
            <a:ext cx="2606040" cy="1508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600" b="1">
                <a:solidFill>
                  <a:srgbClr val="0B1F3A"/>
                </a:solidFill>
                <a:latin typeface="Aptos"/>
              </a:rPr>
              <a:t>Kalıcı vektör deposu
RAG kalite paneli
RBAC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88152" y="4617720"/>
            <a:ext cx="68580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16A34A"/>
                </a:solidFill>
                <a:latin typeface="Aptos"/>
              </a:rPr>
              <a:t>02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828800"/>
            <a:ext cx="342900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61119" y="2148840"/>
            <a:ext cx="1874519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2212848"/>
            <a:ext cx="17282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F59E0B"/>
                </a:solidFill>
                <a:latin typeface="Aptos"/>
              </a:rPr>
              <a:t>UZUN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59" y="2880360"/>
            <a:ext cx="2606040" cy="1508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600" b="1">
                <a:solidFill>
                  <a:srgbClr val="0B1F3A"/>
                </a:solidFill>
                <a:latin typeface="Aptos"/>
              </a:rPr>
              <a:t>Audit entegrasyonu
Çok modlu retrieval
Kaynak onay akışı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37192" y="4617720"/>
            <a:ext cx="68580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59E0B"/>
                </a:solidFill>
                <a:latin typeface="Apto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5715000"/>
            <a:ext cx="8092440" cy="365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1B5FA7"/>
                </a:solidFill>
                <a:latin typeface="Aptos"/>
              </a:rPr>
              <a:t>Öncelik: OCR + kalıcı indeks + otomatik regression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B8C7DC"/>
                </a:solidFill>
                <a:latin typeface="Aptos"/>
              </a:rPr>
              <a:t>CMS-RAG  /  CANLI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FFFFFF"/>
                </a:solidFill>
                <a:latin typeface="Aptos"/>
              </a:rPr>
              <a:t>16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 Display"/>
              </a:rPr>
              <a:t>5 adımda projenin bütün değerini göster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353312"/>
            <a:ext cx="1042416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CAD5E5"/>
                </a:solidFill>
                <a:latin typeface="Aptos"/>
              </a:rPr>
              <a:t>Toplam önerilen demo süresi: 3 dakika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57400"/>
            <a:ext cx="1993392" cy="233172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313432"/>
            <a:ext cx="594360" cy="4572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2200" b="1">
                <a:solidFill>
                  <a:srgbClr val="38BDF8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971800"/>
            <a:ext cx="1664208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ADVENT nedir?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3794760"/>
            <a:ext cx="1444752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3858768"/>
            <a:ext cx="1298448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RESMÎ KAYNAK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79192" y="3200400"/>
            <a:ext cx="274320" cy="0"/>
          </a:xfrm>
          <a:prstGeom prst="line">
            <a:avLst/>
          </a:prstGeom>
          <a:ln w="1778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953512" y="2057400"/>
            <a:ext cx="1993392" cy="233172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39312" y="2313432"/>
            <a:ext cx="594360" cy="4572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2200" b="1">
                <a:solidFill>
                  <a:srgbClr val="38BDF8"/>
                </a:solidFill>
                <a:latin typeface="Apto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18104" y="2971800"/>
            <a:ext cx="1664208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Örnekleri var mı?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27832" y="3794760"/>
            <a:ext cx="1444752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00984" y="3858768"/>
            <a:ext cx="1298448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TAKIP BAĞLAMI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946904" y="3200400"/>
            <a:ext cx="274320" cy="0"/>
          </a:xfrm>
          <a:prstGeom prst="line">
            <a:avLst/>
          </a:prstGeom>
          <a:ln w="1778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221224" y="2057400"/>
            <a:ext cx="1993392" cy="233172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07024" y="2313432"/>
            <a:ext cx="594360" cy="4572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2200" b="1">
                <a:solidFill>
                  <a:srgbClr val="38BDF8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85816" y="2971800"/>
            <a:ext cx="1664208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Görevleri neler?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95544" y="3794760"/>
            <a:ext cx="1444752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68696" y="3858768"/>
            <a:ext cx="1298448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ÇOKLU KAYNAK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214616" y="3200400"/>
            <a:ext cx="274320" cy="0"/>
          </a:xfrm>
          <a:prstGeom prst="line">
            <a:avLst/>
          </a:prstGeom>
          <a:ln w="1778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488936" y="2057400"/>
            <a:ext cx="1993392" cy="233172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74736" y="2313432"/>
            <a:ext cx="594360" cy="4572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2200" b="1">
                <a:solidFill>
                  <a:srgbClr val="38BDF8"/>
                </a:solidFill>
                <a:latin typeface="Aptos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53527" y="2971800"/>
            <a:ext cx="1664208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NATO interoperability?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63256" y="3794760"/>
            <a:ext cx="1444752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36408" y="3858768"/>
            <a:ext cx="1298448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OPEN SOURCE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482328" y="3200400"/>
            <a:ext cx="274320" cy="0"/>
          </a:xfrm>
          <a:prstGeom prst="line">
            <a:avLst/>
          </a:prstGeom>
          <a:ln w="1778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756648" y="2057400"/>
            <a:ext cx="1993392" cy="233172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442448" y="2313432"/>
            <a:ext cx="594360" cy="4572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2200" b="1">
                <a:solidFill>
                  <a:srgbClr val="F59E0B"/>
                </a:solidFill>
                <a:latin typeface="Aptos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21240" y="2971800"/>
            <a:ext cx="1664208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Ben kimim?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030968" y="3794760"/>
            <a:ext cx="1444752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04120" y="3858768"/>
            <a:ext cx="1298448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F59E0B"/>
                </a:solidFill>
                <a:latin typeface="Aptos"/>
              </a:rPr>
              <a:t>GÜVENLI RET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11680" y="5074920"/>
            <a:ext cx="8183879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Gösterilecek ana unsur: cevaptan önce kanıt paketi.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71800" y="5650992"/>
            <a:ext cx="626364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38BDF8"/>
                </a:solidFill>
                <a:latin typeface="Aptos"/>
              </a:rPr>
              <a:t>Belge · Sayfa · Otorite · Koleksiyon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B8C7DC"/>
                </a:solidFill>
                <a:latin typeface="Aptos"/>
              </a:rPr>
              <a:t>CMS-RAG  /  SONUÇ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FFFFFF"/>
                </a:solidFill>
                <a:latin typeface="Aptos"/>
              </a:rPr>
              <a:t>17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43000"/>
            <a:ext cx="6675120" cy="56692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Aptos Display"/>
              </a:rPr>
              <a:t>CMS-RAG Assistant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6583680" cy="11887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38BDF8"/>
                </a:solidFill>
                <a:latin typeface="Aptos Display"/>
              </a:rPr>
              <a:t>Cevap üreten değil,
kanıt zinciri sunan asistan.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1325880"/>
            <a:ext cx="3520440" cy="352044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09560" y="1691640"/>
            <a:ext cx="105156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82712" y="1755648"/>
            <a:ext cx="905255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LOCAL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1746504"/>
            <a:ext cx="1508760" cy="219456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Veri gizliliği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09560" y="2404872"/>
            <a:ext cx="105156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82712" y="2468879"/>
            <a:ext cx="905255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HYBRID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2459736"/>
            <a:ext cx="1508760" cy="219456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Yüksek retrieval kapsaması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9560" y="3118104"/>
            <a:ext cx="105156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82712" y="3182112"/>
            <a:ext cx="905255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GROUNDED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3172968"/>
            <a:ext cx="1508760" cy="219456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Belge ve sayfa kanıtı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3831335"/>
            <a:ext cx="105156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82712" y="3895344"/>
            <a:ext cx="905255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TESTED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3886199"/>
            <a:ext cx="1508760" cy="219456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41/41 + 8/8 + 7/7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4709160"/>
            <a:ext cx="4206240" cy="5029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Aptos"/>
              </a:rPr>
              <a:t>Sorularınız?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440680"/>
            <a:ext cx="411480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9DB4D1"/>
                </a:solidFill>
                <a:latin typeface="Aptos"/>
              </a:rPr>
              <a:t>http://localhost:8501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5623560"/>
            <a:ext cx="352044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9DB4D1"/>
                </a:solidFill>
                <a:latin typeface="Aptos"/>
              </a:rPr>
              <a:t>codex/offline-knowledge-base  ·  Sürüm 1.1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