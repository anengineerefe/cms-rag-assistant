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NIHAI PROJE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49377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Aptos"/>
              </a:rPr>
              <a:t>EVIDENCE-FIRST / LOCAL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36192"/>
            <a:ext cx="612648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 Display"/>
              </a:rPr>
              <a:t>CMS-RAG
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5303520" cy="8229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7D5E8"/>
                </a:solidFill>
                <a:latin typeface="Aptos"/>
              </a:rPr>
              <a:t>Savaş Yönetim Sistemi dokümanları için
kaynak kontrollü bilgi keşfi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6304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67335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143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1353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SNAPSHOT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87000" y="27432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7000" y="29535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RRF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333756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4787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572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4782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882127" y="1472184"/>
            <a:ext cx="2103121" cy="3200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985248" y="1472184"/>
            <a:ext cx="868680" cy="160020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025128" y="3072384"/>
            <a:ext cx="1828800" cy="59436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470648" y="3666744"/>
            <a:ext cx="1554480" cy="12344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144768"/>
            <a:ext cx="6400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FA8C8"/>
                </a:solidFill>
                <a:latin typeface="Aptos"/>
              </a:rPr>
              <a:t>Sürüm 1.2  ·  02.08.2026  ·  codex/evaluation-benchmark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YÖNETICI ÖZETI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Tek cümlede proje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Önceden hazırlanmış kamu bilgisini çevrimdışı, yerel ve kaynaklı cevaba dönüştürür.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41 /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92024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8 /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RETRIEVAL KABULÜ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52160" y="192024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KANIT PARÇASI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92024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936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HTTP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CANLI SERVİS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429000"/>
            <a:ext cx="10927080" cy="201168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730752"/>
            <a:ext cx="21031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Aptos"/>
              </a:rPr>
              <a:t>Çözüm değeri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60520"/>
            <a:ext cx="685800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Yanıt + belge + sayfa + otorite + koleksiyon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4800600"/>
            <a:ext cx="768096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C7D5E8"/>
                </a:solidFill>
                <a:latin typeface="Aptos"/>
              </a:rPr>
              <a:t>Kullanıcı model çıktısını yalnız okumaz; kanıtı açıp denetler.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3749039"/>
            <a:ext cx="23774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31352" y="3813048"/>
            <a:ext cx="22311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ÇEVRIMDIŞI ÇALIŞMA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434340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59952" y="440740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HAZIR SNAPSHOT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93776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500176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HIBRIT RETRIEVAL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Neden klasik arama veya yalnız LLM yetmiyor?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Dağınık bilgi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Broşür, ürün sayfası ve açık referanslar farklı yerlerde.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Bağlam kaybı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Anahtar kelime araması anlam yakınlığını kaçırabilir.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Kaynaksız üretim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LLM, ürün yeteneği veya örnek uydurabilir.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92040"/>
            <a:ext cx="10927080" cy="77724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38928"/>
            <a:ext cx="10378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1B5FA7"/>
                </a:solidFill>
                <a:latin typeface="Aptos"/>
              </a:rPr>
              <a:t>Tasarım hedefi  →  Cevabı değil, cevabın kanıt zincirini güvenilir hâle getirmek.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KAYNAK GÜVENI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Kaynaklar birleşir; otoriteleri karışmaz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Her parça belge, sayfa, koleksiyon, otorite ve URL bilgisini korur.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17627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240279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OFFICIAL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084831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Resmî PDF + HAVELSAN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10312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Ürün ve ADVENT iddiaları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0896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6112" y="341071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7472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OPEN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31927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NATO kamu referansı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33756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Genel C2 ve birlikte çalışabilirlik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" y="464515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470916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55371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Birleşik görünüm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57200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Kaynak kimliği korunarak geniş araştırma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77724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B5FA7"/>
                </a:solidFill>
                <a:latin typeface="Aptos"/>
              </a:rPr>
              <a:t>Kapsam değiştiğinde konuşma belleği de ayrılır.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715000"/>
            <a:ext cx="42062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16A34A"/>
                </a:solidFill>
                <a:latin typeface="Aptos"/>
              </a:rPr>
              <a:t>→ ADVENT geçmişi NATO cevabını kirletemez.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Katmanlı ve testle korunan yapı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Bağımlılık yönü yukarıdan aşağı; domain teknoloji bağımsızdır.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9847" y="1783080"/>
            <a:ext cx="4572000" cy="566928"/>
          </a:xfrm>
          <a:prstGeom prst="roundRect">
            <a:avLst/>
          </a:prstGeom>
          <a:solidFill>
            <a:srgbClr val="1A335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92727" y="192938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687" y="1929384"/>
            <a:ext cx="22402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7 satırlık giriş noktası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5447" y="2560320"/>
            <a:ext cx="6400800" cy="566928"/>
          </a:xfrm>
          <a:prstGeom prst="roundRect">
            <a:avLst/>
          </a:prstGeom>
          <a:solidFill>
            <a:srgbClr val="16497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8327" y="270662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4287" y="2706624"/>
            <a:ext cx="40690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Streamlit · sohbet · sidebar · kanıt kartı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3927" y="3337560"/>
            <a:ext cx="7863840" cy="566928"/>
          </a:xfrm>
          <a:prstGeom prst="roundRect">
            <a:avLst/>
          </a:prstGeom>
          <a:solidFill>
            <a:srgbClr val="1B5FA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6807" y="348386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2767" y="3483864"/>
            <a:ext cx="5532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RAG kullanım senaryosu orkestrasyonu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8127" y="4114800"/>
            <a:ext cx="9235440" cy="566928"/>
          </a:xfrm>
          <a:prstGeom prst="roundRect">
            <a:avLst/>
          </a:prstGeom>
          <a:solidFill>
            <a:srgbClr val="237BB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61007" y="426110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967" y="4261104"/>
            <a:ext cx="69037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Modeller · sorgu kuralları · kanıt cevapları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3767" y="4892040"/>
            <a:ext cx="10424160" cy="566928"/>
          </a:xfrm>
          <a:prstGeom prst="roundRect">
            <a:avLst/>
          </a:prstGeom>
          <a:solidFill>
            <a:srgbClr val="2E93D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647" y="503834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2607" y="5038344"/>
            <a:ext cx="80924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PDF · manifest · FAISS · BM25 · reranker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897880"/>
            <a:ext cx="3566160" cy="31089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Aptos"/>
              </a:rPr>
              <a:t>ArchitectureGuardTests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6236208"/>
            <a:ext cx="594360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9DB4D1"/>
                </a:solidFill>
                <a:latin typeface="Aptos"/>
              </a:rPr>
              <a:t>ince giriş · bağımlılık yönü · Türkçe açıklama standardı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BELGE YAŞAM DÖNGÜSÜ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Araştırmadan hazır yerel kanıta kadar izlenebilir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Araştır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Birincil kamu kaynağı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46960" y="2907791"/>
            <a:ext cx="137159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412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384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384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Kürasyon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384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Kapsam + kaynak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90999" y="2907791"/>
            <a:ext cx="137161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2816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788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788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88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Metin çıkarılabilir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7220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Parçala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+ overlap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7908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1623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2596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596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Embedding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596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Önceden hesapla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72312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86027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000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000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Snapshot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000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Manifest + vektör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251960"/>
            <a:ext cx="5212080" cy="1115568"/>
          </a:xfrm>
          <a:prstGeom prst="roundRect">
            <a:avLst/>
          </a:prstGeom>
          <a:solidFill>
            <a:srgbClr val="EDF9F1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517136"/>
            <a:ext cx="16459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Aptos"/>
              </a:rPr>
              <a:t>Normal kullanım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Hazır snapshot yüklenir · web erişimi yok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251960"/>
            <a:ext cx="5212080" cy="1115568"/>
          </a:xfrm>
          <a:prstGeom prst="roundRect">
            <a:avLst/>
          </a:prstGeom>
          <a:solidFill>
            <a:srgbClr val="FFF6E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517136"/>
            <a:ext cx="14630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ptos"/>
              </a:rPr>
              <a:t>Ek belge?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SHA-256 kontrolü · yalnız ek belge indekslenir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RAG HATTI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Hibrit retrieval: anlam + terim + yeniden sıralama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Soru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Türkçe doğal dil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83525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20685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0413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0413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Expand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0413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CMS sözlüğü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64131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01291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1019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1019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Semantic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1019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BGE + FAISS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44737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81897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1625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625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BM25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1625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Kesin terim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25342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2502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2230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2230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RRF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2230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Sıra füzyonu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05948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543108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52836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2836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Rerank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2836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Cross-encoder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86554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123714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33442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33442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Kanıt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33442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birleştirme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251960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B5FA7"/>
                </a:solidFill>
                <a:latin typeface="Aptos"/>
              </a:rPr>
              <a:t>Semantic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48840" y="4251960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“Savaş gemisi” ↔ “surface platform” anlam yakınlığı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818888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Aptos"/>
              </a:rPr>
              <a:t>BM25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18888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ADVENT · MÜREN · Link 11 · Link 16 kesin eşleşmesi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20840" y="4160520"/>
            <a:ext cx="4434840" cy="1143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0" y="4407408"/>
            <a:ext cx="914400" cy="34747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RRF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4425696"/>
            <a:ext cx="2194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1 / (60 + sıra)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4892040"/>
            <a:ext cx="361188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C7D5E8"/>
                </a:solidFill>
                <a:latin typeface="Aptos"/>
              </a:rPr>
              <a:t>Farklı puan ölçeklerini istikrarlı birleştirir.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CEVAP GÜVENILIRLIĞI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Model en son adım; karar zincirinin tamamı değil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İndeks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Yoksa yükleme yönlendirmesi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Alan içi mi?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Kişisel sohbet → güvenli ret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1392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Kesin kanıt var mı?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1392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Deterministik kaynaklı cevap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Retrieval yeterli mi?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Kapsam filtreli adaylar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Ollama üretimi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≤55 kelime · düşük sıcaklık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Kaynak kontrolü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[SOURCE n] + kanıt kartı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715000"/>
            <a:ext cx="27432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Aptos"/>
              </a:rPr>
              <a:t>Servis hatası ≠ kanıt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715000"/>
            <a:ext cx="7909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Ollama erişilemiyorsa retrieval sonuçları kullanıcıya kaynak diye gösterilmez.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KONUŞMA BELLEĞI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Takip sorusu anlaşılır; kapsamlar birbirine sızmaz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4983480" cy="731520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1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4983480" cy="868680"/>
          </a:xfrm>
          <a:prstGeom prst="roundRect">
            <a:avLst/>
          </a:prstGeom>
          <a:solidFill>
            <a:srgbClr val="1B416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44368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310128"/>
            <a:ext cx="192024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38BDF8"/>
                </a:solidFill>
                <a:latin typeface="Aptos"/>
              </a:rPr>
              <a:t>← aynı official geçmişi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94760"/>
            <a:ext cx="4983480" cy="86868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05072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4370832"/>
            <a:ext cx="219456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7EE2BA"/>
                </a:solidFill>
                <a:latin typeface="Aptos"/>
              </a:rPr>
              <a:t>← open_source: yeni bağlam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783080"/>
            <a:ext cx="73152" cy="3246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743200"/>
            <a:ext cx="731520" cy="7315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Aptos"/>
              </a:rPr>
              <a:t>SCOPE
WALL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965960"/>
            <a:ext cx="4160520" cy="1143000"/>
          </a:xfrm>
          <a:prstGeom prst="roundRect">
            <a:avLst/>
          </a:prstGeom>
          <a:solidFill>
            <a:srgbClr val="13335A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212848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official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624328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FC2DA"/>
                </a:solidFill>
                <a:latin typeface="Aptos"/>
              </a:rPr>
              <a:t>ADVENT ürün bağlamı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3456432"/>
            <a:ext cx="4160520" cy="114300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3703320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open_source history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114800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BDE7D5"/>
                </a:solidFill>
                <a:latin typeface="Aptos"/>
              </a:rPr>
              <a:t>NATO genel birlikte çalışabilirlik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15000"/>
            <a:ext cx="6309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En fazla 3 tur · kapsam etiketli · bounded context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KULLANICI DENEYIMI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Arayüzün ana ürünü: görünür kanıt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108813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331720" cy="42519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38528"/>
            <a:ext cx="187451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◆ Knowledge Operations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06040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KAPSAM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82112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246120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PDF YÜKLE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758184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822192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İNDEKSI YENILE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737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FC2DA"/>
                </a:solidFill>
                <a:latin typeface="Aptos"/>
              </a:rPr>
              <a:t>Model · qwen2.5:3b
Belge · 1
Arama · Hybrid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938528"/>
            <a:ext cx="438912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Aptos"/>
              </a:rPr>
              <a:t>Komuta Bilgi Keşfi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2697480"/>
            <a:ext cx="7680960" cy="566928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2880360"/>
            <a:ext cx="704088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ADVENT nedir?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3456432"/>
            <a:ext cx="7680960" cy="960120"/>
          </a:xfrm>
          <a:prstGeom prst="roundRect">
            <a:avLst/>
          </a:prstGeom>
          <a:solidFill>
            <a:srgbClr val="F7FAFE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639312"/>
            <a:ext cx="182880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1B5FA7"/>
                </a:solidFill>
                <a:latin typeface="Aptos"/>
              </a:rPr>
              <a:t>KAYNAKLI YANIT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699516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172033"/>
                </a:solidFill>
                <a:latin typeface="Aptos"/>
              </a:rPr>
              <a:t>ADVENT, farklı operasyonel ortamlar için uyarlanabilen bir CMS ürün ailesidir [SOURCE 1].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617720"/>
            <a:ext cx="7223760" cy="59436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4809744"/>
            <a:ext cx="6766560" cy="2103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B5FA7"/>
                </a:solidFill>
                <a:latin typeface="Aptos"/>
              </a:rPr>
              <a:t>Kanıt paketi · advent_cms.pdf · Sayfa 4 · official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532120"/>
            <a:ext cx="16459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Aptos"/>
              </a:rPr>
              <a:t>Akışlı yazım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532120"/>
            <a:ext cx="2103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B5FA7"/>
                </a:solidFill>
                <a:latin typeface="Aptos"/>
              </a:rPr>
              <a:t>Kalıcı kaynak kartı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5532120"/>
            <a:ext cx="1463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TEST VE KABUL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“Çalışıyor” değil; ölçülmüş ve yeniden üretilmiş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69 / 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90672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90672" y="182880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45 / 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ALTIN 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22976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2976" y="182880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4144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30 /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LLM HAKEM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182880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0 /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FP / FN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33756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Storage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3364991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48840" y="3364991"/>
            <a:ext cx="2223820" cy="164592"/>
          </a:xfrm>
          <a:prstGeom prst="rect">
            <a:avLst/>
          </a:prstGeom>
          <a:solidFill>
            <a:srgbClr val="1B5FA7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32841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383133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4340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UI + 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437083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48840" y="4370832"/>
            <a:ext cx="222382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433425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84632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Eval + Audit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48840" y="487375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8840" y="4873752"/>
            <a:ext cx="3057753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483717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4924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Architecture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48840" y="537667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48840" y="5376672"/>
            <a:ext cx="833932" cy="1645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440" y="534009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21240" y="3310128"/>
            <a:ext cx="1417320" cy="2286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0" y="3657600"/>
            <a:ext cx="114300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38BDF8"/>
                </a:solidFill>
                <a:latin typeface="Aptos"/>
              </a:rPr>
              <a:t>GIT
ARCHIVE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4498848"/>
            <a:ext cx="1143000" cy="5486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ptos"/>
              </a:rPr>
              <a:t>temiz kopyada
aynı sonuç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GÜVENLIK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Yerel çalışma + kontrollü kaynak + güvenli hata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86968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Belge metni bulut LLM'e gitmez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SHA-256 duplicate ve bütünlük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0456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21624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1624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Koleksiyon ve geçmiş izolasyonu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6968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ESCAPE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Kaynak HTML çıktısı güvenli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3128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54296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REJECT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4296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Yetersiz kanıtta açık ret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0456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21624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4776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1624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Manifest traversal engeli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532120"/>
            <a:ext cx="10012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ptos"/>
              </a:rPr>
              <a:t>Yerel audit hazır · Üretime geçişte: RBAC · merkezi aktarım · disk şifreleme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GIT VE SÜRÜMLEME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Geçmiş korunur; değişiklikler kontrollü akar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8424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main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37360" y="210312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9008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develop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37360" y="310896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99592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Aptos"/>
              </a:rPr>
              <a:t>feature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37360" y="411480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00176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ptos"/>
              </a:rPr>
              <a:t>release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37360" y="512064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1945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legacy</a:t>
            </a:r>
          </a:p>
        </p:txBody>
      </p:sp>
      <p:sp>
        <p:nvSpPr>
          <p:cNvPr id="16" name="Oval 15"/>
          <p:cNvSpPr/>
          <p:nvPr/>
        </p:nvSpPr>
        <p:spPr>
          <a:xfrm>
            <a:off x="32918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4dbf3f8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43b38ae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59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0e72e16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d022506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0" y="4974336"/>
            <a:ext cx="201168" cy="2011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25780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release/*</a:t>
            </a:r>
          </a:p>
        </p:txBody>
      </p:sp>
      <p:sp>
        <p:nvSpPr>
          <p:cNvPr id="26" name="Oval 25"/>
          <p:cNvSpPr/>
          <p:nvPr/>
        </p:nvSpPr>
        <p:spPr>
          <a:xfrm>
            <a:off x="106527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v1.x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0" y="3063240"/>
            <a:ext cx="1280160" cy="100584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318504" y="3063240"/>
            <a:ext cx="1316736" cy="1005840"/>
          </a:xfrm>
          <a:prstGeom prst="line">
            <a:avLst/>
          </a:prstGeom>
          <a:ln w="19050">
            <a:solidFill>
              <a:srgbClr val="1B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26679" y="3063240"/>
            <a:ext cx="1783081" cy="201168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601200" y="2057400"/>
            <a:ext cx="1051560" cy="3017520"/>
          </a:xfrm>
          <a:prstGeom prst="line">
            <a:avLst/>
          </a:prstGeom>
          <a:ln w="1905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28800" y="5806440"/>
            <a:ext cx="30175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0B1F3A"/>
                </a:solidFill>
                <a:latin typeface="Aptos"/>
              </a:rPr>
              <a:t>main: yalnız yayımlanmış sürüm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806440"/>
            <a:ext cx="292608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B5FA7"/>
                </a:solidFill>
                <a:latin typeface="Aptos"/>
              </a:rPr>
              <a:t>develop: entegrasyon tabanı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5806440"/>
            <a:ext cx="34747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F59E0B"/>
                </a:solidFill>
                <a:latin typeface="Aptos"/>
              </a:rPr>
              <a:t>feature/release: inceleme + kabul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ÇALIŞTIRMA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Yerel kurulum: iki servis, tek tarayıcı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Python ortamı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venv .venv
pip install -r requirements.txt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Yerel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ollama pull qwen2.5:3b
ollama serve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Uygulama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9419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streamlit run app.py
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02352"/>
            <a:ext cx="10927080" cy="713232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21808"/>
            <a:ext cx="42062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Offline mod  ·  $env:CMS_RAG_OFFLINE="1"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5321808"/>
            <a:ext cx="52578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Kalite modu  ·  $env:CMS_RAG_MODEL="qwen2.5:7b"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YOL HARITASI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MVP tamamlandı; kurumsal ölçek için sıradaki adımlar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3040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YAKIN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OCR
Kaynak drift kontrolü
CI kabul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7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5231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Kalıcı vektör deposu
Kalite eğilim alarmı
RBAC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815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1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UZUN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59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Merkezi audit aktarımı
Çok modlu retrieval
Kaynak onay akışı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5715000"/>
            <a:ext cx="809244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1B5FA7"/>
                </a:solidFill>
                <a:latin typeface="Aptos"/>
              </a:rPr>
              <a:t>Öncelik: OCR + kalıcı indeks + otomatik regression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CANLI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5 adımda projenin bütün değerini göster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Toplam önerilen demo süresi: 3 dakika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RESMÎ KAYNAK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9192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53512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7832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00984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TAKIP BAĞLAMI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46904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21224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07024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Görevleri neler?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5544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8696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ÇOKLU KAYNAK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14616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88936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7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63256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6408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OPEN SOURCE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82328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56648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42448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pto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Ben kimim?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30968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074920"/>
            <a:ext cx="8183879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Gösterilecek ana unsur: cevaptan önce kanıt paketi.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5650992"/>
            <a:ext cx="62636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Belge · Sayfa · Otorite · Koleksiyon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SONUÇ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6675120" cy="56692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CMS-RAG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6583680" cy="11887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8BDF8"/>
                </a:solidFill>
                <a:latin typeface="Aptos Display"/>
              </a:rPr>
              <a:t>Cevap üreten değil,
kanıt zinciri sunan asistan.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325880"/>
            <a:ext cx="3520440" cy="352044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691640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82712" y="1755648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746504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Veri gizliliği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2404872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2" y="2468879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HYBRID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59736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Yüksek retrieval kapsaması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118104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2712" y="3182112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GROUNDED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172968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Belge ve sayfa kanıtı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3831335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3895344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86199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69/69 + 45/45 + 30/30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709160"/>
            <a:ext cx="420624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Sorularınız?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4114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9DB4D1"/>
                </a:solidFill>
                <a:latin typeface="Aptos"/>
              </a:rPr>
              <a:t>http://localhost:8501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623560"/>
            <a:ext cx="3520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9DB4D1"/>
                </a:solidFill>
                <a:latin typeface="Aptos"/>
              </a:rPr>
              <a:t>codex/evaluation-benchmark  ·  Sürüm 1.2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