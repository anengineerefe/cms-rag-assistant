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685800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50" b="1">
                <a:solidFill>
                  <a:srgbClr val="B8C7DC"/>
                </a:solidFill>
                <a:latin typeface="Aptos"/>
              </a:rPr>
              <a:t>CMS-RAG  /  NIHAI PROJE SUNUMU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18520" y="201168"/>
            <a:ext cx="59436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900" b="1">
                <a:solidFill>
                  <a:srgbClr val="FFFFFF"/>
                </a:solidFill>
                <a:latin typeface="Aptos"/>
              </a:rPr>
              <a:t>01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94360"/>
            <a:ext cx="11109960" cy="2286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143000"/>
            <a:ext cx="493776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38BDF8"/>
                </a:solidFill>
                <a:latin typeface="Aptos"/>
              </a:rPr>
              <a:t>EVIDENCE-FIRST / LOCAL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1536192"/>
            <a:ext cx="6126480" cy="15087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4200" b="1">
                <a:solidFill>
                  <a:srgbClr val="FFFFFF"/>
                </a:solidFill>
                <a:latin typeface="Aptos Display"/>
              </a:rPr>
              <a:t>CMS-RAG
Assistant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46120"/>
            <a:ext cx="5303520" cy="8229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800" b="0">
                <a:solidFill>
                  <a:srgbClr val="C7D5E8"/>
                </a:solidFill>
                <a:latin typeface="Aptos"/>
              </a:rPr>
              <a:t>Savaş Yönetim Sistemi dokümanları için
kaynak kontrollü bilgi keşfi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0" y="1463040"/>
            <a:ext cx="1143000" cy="658368"/>
          </a:xfrm>
          <a:prstGeom prst="roundRect">
            <a:avLst/>
          </a:prstGeom>
          <a:solidFill>
            <a:srgbClr val="15365F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0" y="1673352"/>
            <a:ext cx="1143000" cy="20116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PDF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418320" y="1143000"/>
            <a:ext cx="1143000" cy="658368"/>
          </a:xfrm>
          <a:prstGeom prst="roundRect">
            <a:avLst/>
          </a:prstGeom>
          <a:solidFill>
            <a:srgbClr val="15365F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18320" y="1353312"/>
            <a:ext cx="1143000" cy="20116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SNAPSHOT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287000" y="2743200"/>
            <a:ext cx="1143000" cy="658368"/>
          </a:xfrm>
          <a:prstGeom prst="roundRect">
            <a:avLst/>
          </a:prstGeom>
          <a:solidFill>
            <a:srgbClr val="15365F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87000" y="2953512"/>
            <a:ext cx="1143000" cy="20116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RRF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58200" y="3337560"/>
            <a:ext cx="1143000" cy="658368"/>
          </a:xfrm>
          <a:prstGeom prst="roundRect">
            <a:avLst/>
          </a:prstGeom>
          <a:solidFill>
            <a:srgbClr val="15365F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58200" y="3547872"/>
            <a:ext cx="1143000" cy="20116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RAG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03720" y="4572000"/>
            <a:ext cx="1143000" cy="658368"/>
          </a:xfrm>
          <a:prstGeom prst="roundRect">
            <a:avLst/>
          </a:prstGeom>
          <a:solidFill>
            <a:srgbClr val="15365F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03720" y="4782312"/>
            <a:ext cx="1143000" cy="20116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SOURCE</a:t>
            </a:r>
          </a:p>
        </p:txBody>
      </p:sp>
      <p:cxnSp>
        <p:nvCxnSpPr>
          <p:cNvPr id="18" name="Connector 17"/>
          <p:cNvCxnSpPr/>
          <p:nvPr/>
        </p:nvCxnSpPr>
        <p:spPr>
          <a:xfrm flipV="1">
            <a:off x="7882127" y="1472184"/>
            <a:ext cx="2103121" cy="320040"/>
          </a:xfrm>
          <a:prstGeom prst="line">
            <a:avLst/>
          </a:prstGeom>
          <a:ln w="16510">
            <a:solidFill>
              <a:srgbClr val="38BDF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9985248" y="1472184"/>
            <a:ext cx="868680" cy="1600200"/>
          </a:xfrm>
          <a:prstGeom prst="line">
            <a:avLst/>
          </a:prstGeom>
          <a:ln w="16510">
            <a:solidFill>
              <a:srgbClr val="38BDF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>
            <a:off x="9025128" y="3072384"/>
            <a:ext cx="1828800" cy="594360"/>
          </a:xfrm>
          <a:prstGeom prst="line">
            <a:avLst/>
          </a:prstGeom>
          <a:ln w="16510">
            <a:solidFill>
              <a:srgbClr val="38BDF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7470648" y="3666744"/>
            <a:ext cx="1554480" cy="1234440"/>
          </a:xfrm>
          <a:prstGeom prst="line">
            <a:avLst/>
          </a:prstGeom>
          <a:ln w="16510">
            <a:solidFill>
              <a:srgbClr val="38BDF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85800" y="6144768"/>
            <a:ext cx="640080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900" b="0">
                <a:solidFill>
                  <a:srgbClr val="8FA8C8"/>
                </a:solidFill>
                <a:latin typeface="Aptos"/>
              </a:rPr>
              <a:t>Sürüm 2.0  ·  18.08.2026  ·  codex/pgvector-lineage · agentic final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685800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50" b="1">
                <a:solidFill>
                  <a:srgbClr val="5F6B7A"/>
                </a:solidFill>
                <a:latin typeface="Aptos"/>
              </a:rPr>
              <a:t>CMS-RAG  /  YÖNETICI ÖZETI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18520" y="201168"/>
            <a:ext cx="59436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900" b="1">
                <a:solidFill>
                  <a:srgbClr val="0B1F3A"/>
                </a:solidFill>
                <a:latin typeface="Aptos"/>
              </a:rPr>
              <a:t>02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94360"/>
            <a:ext cx="11109960" cy="22860"/>
          </a:xfrm>
          <a:prstGeom prst="rect">
            <a:avLst/>
          </a:prstGeom>
          <a:solidFill>
            <a:srgbClr val="1B5F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749808"/>
            <a:ext cx="10789920" cy="5943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0B1F3A"/>
                </a:solidFill>
                <a:latin typeface="Aptos Display"/>
              </a:rPr>
              <a:t>Tek cümlede proje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1353312"/>
            <a:ext cx="10424160" cy="41148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50" b="0">
                <a:solidFill>
                  <a:srgbClr val="5F6B7A"/>
                </a:solidFill>
                <a:latin typeface="Aptos"/>
              </a:rPr>
              <a:t>Önceden hazırlanmış kamu bilgisini çevrimdışı, yerel ve kaynaklı cevaba dönüştürür.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920240"/>
            <a:ext cx="246888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920240"/>
            <a:ext cx="73152" cy="105156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7" y="2057400"/>
            <a:ext cx="2148840" cy="43891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0B1F3A"/>
                </a:solidFill>
                <a:latin typeface="Aptos"/>
              </a:rPr>
              <a:t>148 / 148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7" y="2542032"/>
            <a:ext cx="214884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950" b="1">
                <a:solidFill>
                  <a:srgbClr val="5F6B7A"/>
                </a:solidFill>
                <a:latin typeface="Aptos"/>
              </a:rPr>
              <a:t>OTOMATİK TEST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46120" y="1920240"/>
            <a:ext cx="246888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46120" y="1920240"/>
            <a:ext cx="73152" cy="105156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47288" y="2057400"/>
            <a:ext cx="2148840" cy="43891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0B1F3A"/>
                </a:solidFill>
                <a:latin typeface="Aptos"/>
              </a:rPr>
              <a:t>8 / 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47288" y="2542032"/>
            <a:ext cx="214884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950" b="1">
                <a:solidFill>
                  <a:srgbClr val="5F6B7A"/>
                </a:solidFill>
                <a:latin typeface="Aptos"/>
              </a:rPr>
              <a:t>RETRIEVAL KABULÜ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852160" y="1920240"/>
            <a:ext cx="246888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852160" y="1920240"/>
            <a:ext cx="73152" cy="10515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53328" y="2057400"/>
            <a:ext cx="2148840" cy="43891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0B1F3A"/>
                </a:solidFill>
                <a:latin typeface="Aptos"/>
              </a:rPr>
              <a:t>77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53328" y="2542032"/>
            <a:ext cx="214884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950" b="1">
                <a:solidFill>
                  <a:srgbClr val="5F6B7A"/>
                </a:solidFill>
                <a:latin typeface="Aptos"/>
              </a:rPr>
              <a:t>KANIT PARÇASI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58200" y="1920240"/>
            <a:ext cx="246888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458200" y="1920240"/>
            <a:ext cx="73152" cy="1051560"/>
          </a:xfrm>
          <a:prstGeom prst="rect">
            <a:avLst/>
          </a:prstGeom>
          <a:solidFill>
            <a:srgbClr val="1B5F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59368" y="2057400"/>
            <a:ext cx="2148840" cy="43891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0B1F3A"/>
                </a:solidFill>
                <a:latin typeface="Aptos"/>
              </a:rPr>
              <a:t>HTTP 200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59368" y="2542032"/>
            <a:ext cx="214884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950" b="1">
                <a:solidFill>
                  <a:srgbClr val="5F6B7A"/>
                </a:solidFill>
                <a:latin typeface="Aptos"/>
              </a:rPr>
              <a:t>CANLI SERVİS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3429000"/>
            <a:ext cx="10927080" cy="2011680"/>
          </a:xfrm>
          <a:prstGeom prst="round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" y="3730752"/>
            <a:ext cx="210312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38BDF8"/>
                </a:solidFill>
                <a:latin typeface="Aptos"/>
              </a:rPr>
              <a:t>Çözüm değeri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" y="4160520"/>
            <a:ext cx="6858000" cy="5029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"/>
              </a:rPr>
              <a:t>Yanıt + belge + sayfa + otorite + koleksiyon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7552" y="4800600"/>
            <a:ext cx="7680960" cy="3657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C7D5E8"/>
                </a:solidFill>
                <a:latin typeface="Aptos"/>
              </a:rPr>
              <a:t>Kullanıcı model çıktısını yalnız okumaz; kanıtı açıp denetler.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458200" y="3749039"/>
            <a:ext cx="2377440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31352" y="3813048"/>
            <a:ext cx="2231136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38BDF8"/>
                </a:solidFill>
                <a:latin typeface="Aptos"/>
              </a:rPr>
              <a:t>ÇEVRIMDIŞI ÇALIŞMA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686800" y="4343400"/>
            <a:ext cx="1920240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759952" y="4407408"/>
            <a:ext cx="1773936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38BDF8"/>
                </a:solidFill>
                <a:latin typeface="Aptos"/>
              </a:rPr>
              <a:t>HAZIR SNAPSHOT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686800" y="4937760"/>
            <a:ext cx="1920240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759952" y="5001768"/>
            <a:ext cx="1773936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38BDF8"/>
                </a:solidFill>
                <a:latin typeface="Aptos"/>
              </a:rPr>
              <a:t>HIBRIT RETRIEVAL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685800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50" b="1">
                <a:solidFill>
                  <a:srgbClr val="5F6B7A"/>
                </a:solidFill>
                <a:latin typeface="Aptos"/>
              </a:rPr>
              <a:t>CMS-RAG  / 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18520" y="201168"/>
            <a:ext cx="59436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900" b="1">
                <a:solidFill>
                  <a:srgbClr val="0B1F3A"/>
                </a:solidFill>
                <a:latin typeface="Aptos"/>
              </a:rPr>
              <a:t>03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94360"/>
            <a:ext cx="11109960" cy="22860"/>
          </a:xfrm>
          <a:prstGeom prst="rect">
            <a:avLst/>
          </a:prstGeom>
          <a:solidFill>
            <a:srgbClr val="1B5F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749808"/>
            <a:ext cx="10789920" cy="5943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0B1F3A"/>
                </a:solidFill>
                <a:latin typeface="Aptos Display"/>
              </a:rPr>
              <a:t>Neden klasik arama veya yalnız LLM yetmiyor?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965960"/>
            <a:ext cx="3429000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2212848"/>
            <a:ext cx="50292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1B5FA7"/>
                </a:solidFill>
                <a:latin typeface="Apto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2670048"/>
            <a:ext cx="2926080" cy="41148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000" b="1">
                <a:solidFill>
                  <a:srgbClr val="0B1F3A"/>
                </a:solidFill>
                <a:latin typeface="Aptos"/>
              </a:rPr>
              <a:t>Dağınık bilgi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3273552"/>
            <a:ext cx="2880360" cy="7772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200" b="0">
                <a:solidFill>
                  <a:srgbClr val="5F6B7A"/>
                </a:solidFill>
                <a:latin typeface="Aptos"/>
              </a:rPr>
              <a:t>Broşür, ürün sayfası ve açık referanslar farklı yerlerde.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07407" y="1965960"/>
            <a:ext cx="3429000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36007" y="2212848"/>
            <a:ext cx="50292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1B5FA7"/>
                </a:solidFill>
                <a:latin typeface="Aptos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36007" y="2670048"/>
            <a:ext cx="2926080" cy="41148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000" b="1">
                <a:solidFill>
                  <a:srgbClr val="0B1F3A"/>
                </a:solidFill>
                <a:latin typeface="Aptos"/>
              </a:rPr>
              <a:t>Bağlam kaybı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36007" y="3273552"/>
            <a:ext cx="2880360" cy="7772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200" b="0">
                <a:solidFill>
                  <a:srgbClr val="5F6B7A"/>
                </a:solidFill>
                <a:latin typeface="Aptos"/>
              </a:rPr>
              <a:t>Anahtar kelime araması anlam yakınlığını kaçırabilir.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56448" y="1965960"/>
            <a:ext cx="3429000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85048" y="2212848"/>
            <a:ext cx="50292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DC2626"/>
                </a:solidFill>
                <a:latin typeface="Aptos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85048" y="2670048"/>
            <a:ext cx="2926080" cy="41148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000" b="1">
                <a:solidFill>
                  <a:srgbClr val="0B1F3A"/>
                </a:solidFill>
                <a:latin typeface="Aptos"/>
              </a:rPr>
              <a:t>Kaynaksız üretim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85048" y="3273552"/>
            <a:ext cx="2880360" cy="7772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200" b="0">
                <a:solidFill>
                  <a:srgbClr val="5F6B7A"/>
                </a:solidFill>
                <a:latin typeface="Aptos"/>
              </a:rPr>
              <a:t>LLM, ürün yeteneği veya örnek uydurabilir.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4892040"/>
            <a:ext cx="10927080" cy="777240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1B5F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5138928"/>
            <a:ext cx="1037844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600" b="1">
                <a:solidFill>
                  <a:srgbClr val="1B5FA7"/>
                </a:solidFill>
                <a:latin typeface="Aptos"/>
              </a:rPr>
              <a:t>Tasarım hedefi  →  Cevabı değil, cevabın kanıt zincirini güvenilir hâle getirmek.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685800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50" b="1">
                <a:solidFill>
                  <a:srgbClr val="5F6B7A"/>
                </a:solidFill>
                <a:latin typeface="Aptos"/>
              </a:rPr>
              <a:t>CMS-RAG  /  KAYNAK GÜVENI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18520" y="201168"/>
            <a:ext cx="59436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900" b="1">
                <a:solidFill>
                  <a:srgbClr val="0B1F3A"/>
                </a:solidFill>
                <a:latin typeface="Aptos"/>
              </a:rPr>
              <a:t>04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94360"/>
            <a:ext cx="11109960" cy="22860"/>
          </a:xfrm>
          <a:prstGeom prst="rect">
            <a:avLst/>
          </a:prstGeom>
          <a:solidFill>
            <a:srgbClr val="1B5F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749808"/>
            <a:ext cx="10789920" cy="5943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0B1F3A"/>
                </a:solidFill>
                <a:latin typeface="Aptos Display"/>
              </a:rPr>
              <a:t>Kaynaklar birleşir; otoriteleri karışmaz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1353312"/>
            <a:ext cx="10424160" cy="41148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50" b="0">
                <a:solidFill>
                  <a:srgbClr val="5F6B7A"/>
                </a:solidFill>
                <a:latin typeface="Aptos"/>
              </a:rPr>
              <a:t>Her parça belge, sayfa, koleksiyon, otorite ve URL bilgisini korur.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874519"/>
            <a:ext cx="10835640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B5F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96112" y="2176272"/>
            <a:ext cx="1417320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9264" y="2240279"/>
            <a:ext cx="1271016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1B5FA7"/>
                </a:solidFill>
                <a:latin typeface="Aptos"/>
              </a:rPr>
              <a:t>OFFICIAL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40" y="2084831"/>
            <a:ext cx="292608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0B1F3A"/>
                </a:solidFill>
                <a:latin typeface="Aptos"/>
              </a:rPr>
              <a:t>Resmî PDF + HAVELSAN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15000" y="2103120"/>
            <a:ext cx="5440680" cy="41148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200" b="0">
                <a:solidFill>
                  <a:srgbClr val="5F6B7A"/>
                </a:solidFill>
                <a:latin typeface="Aptos"/>
              </a:rPr>
              <a:t>Ürün ve ADVENT iddiaları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3108960"/>
            <a:ext cx="10835640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96112" y="3410712"/>
            <a:ext cx="1417320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9264" y="3474720"/>
            <a:ext cx="1271016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16A34A"/>
                </a:solidFill>
                <a:latin typeface="Aptos"/>
              </a:rPr>
              <a:t>OPEN SOURCE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06040" y="3319272"/>
            <a:ext cx="292608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0B1F3A"/>
                </a:solidFill>
                <a:latin typeface="Aptos"/>
              </a:rPr>
              <a:t>NATO kamu referansı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15000" y="3337560"/>
            <a:ext cx="5440680" cy="41148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200" b="0">
                <a:solidFill>
                  <a:srgbClr val="5F6B7A"/>
                </a:solidFill>
                <a:latin typeface="Aptos"/>
              </a:rPr>
              <a:t>Genel C2 ve birlikte çalışabilirlik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4343400"/>
            <a:ext cx="10835640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96112" y="4645152"/>
            <a:ext cx="1417320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9264" y="4709160"/>
            <a:ext cx="1271016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F59E0B"/>
                </a:solidFill>
                <a:latin typeface="Aptos"/>
              </a:rPr>
              <a:t>ALL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06040" y="4553712"/>
            <a:ext cx="292608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0B1F3A"/>
                </a:solidFill>
                <a:latin typeface="Aptos"/>
              </a:rPr>
              <a:t>Birleşik görünüm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15000" y="4572000"/>
            <a:ext cx="5440680" cy="41148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200" b="0">
                <a:solidFill>
                  <a:srgbClr val="5F6B7A"/>
                </a:solidFill>
                <a:latin typeface="Aptos"/>
              </a:rPr>
              <a:t>Kaynak kimliği korunarak geniş araştırma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5715000"/>
            <a:ext cx="777240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1B5FA7"/>
                </a:solidFill>
                <a:latin typeface="Aptos"/>
              </a:rPr>
              <a:t>Kapsam değiştiğinde konuşma belleği de ayrılır.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5715000"/>
            <a:ext cx="420624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1200" b="1">
                <a:solidFill>
                  <a:srgbClr val="16A34A"/>
                </a:solidFill>
                <a:latin typeface="Aptos"/>
              </a:rPr>
              <a:t>→ ADVENT geçmişi NATO cevabını kirletemez.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685800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50" b="1">
                <a:solidFill>
                  <a:srgbClr val="B8C7DC"/>
                </a:solidFill>
                <a:latin typeface="Aptos"/>
              </a:rPr>
              <a:t>CMS-RAG  /  MIMARI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18520" y="201168"/>
            <a:ext cx="59436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900" b="1">
                <a:solidFill>
                  <a:srgbClr val="FFFFFF"/>
                </a:solidFill>
                <a:latin typeface="Aptos"/>
              </a:rPr>
              <a:t>05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94360"/>
            <a:ext cx="11109960" cy="2286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749808"/>
            <a:ext cx="10789920" cy="5943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ptos Display"/>
              </a:rPr>
              <a:t>Katmanlı ve testle korunan yapı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1353312"/>
            <a:ext cx="10424160" cy="41148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50" b="0">
                <a:solidFill>
                  <a:srgbClr val="CAD5E5"/>
                </a:solidFill>
                <a:latin typeface="Aptos"/>
              </a:rPr>
              <a:t>Bağımlılık yönü yukarıdan aşağı; domain teknoloji bağımsızdır.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09847" y="1783080"/>
            <a:ext cx="4572000" cy="566928"/>
          </a:xfrm>
          <a:prstGeom prst="roundRect">
            <a:avLst/>
          </a:prstGeom>
          <a:solidFill>
            <a:srgbClr val="1A3357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992727" y="1929384"/>
            <a:ext cx="192024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Aptos"/>
              </a:rPr>
              <a:t>app.py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58687" y="1929384"/>
            <a:ext cx="224028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950" b="0">
                <a:solidFill>
                  <a:srgbClr val="D7E6F7"/>
                </a:solidFill>
                <a:latin typeface="Aptos"/>
              </a:rPr>
              <a:t>7 satırlık giriş noktası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95447" y="2560320"/>
            <a:ext cx="6400800" cy="566928"/>
          </a:xfrm>
          <a:prstGeom prst="roundRect">
            <a:avLst/>
          </a:prstGeom>
          <a:solidFill>
            <a:srgbClr val="16497A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78327" y="2706624"/>
            <a:ext cx="192024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Aptos"/>
              </a:rPr>
              <a:t>presentation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44287" y="2706624"/>
            <a:ext cx="406908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950" b="0">
                <a:solidFill>
                  <a:srgbClr val="D7E6F7"/>
                </a:solidFill>
                <a:latin typeface="Aptos"/>
              </a:rPr>
              <a:t>Streamlit · sohbet · sidebar · kanıt kartı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163927" y="3337560"/>
            <a:ext cx="7863840" cy="566928"/>
          </a:xfrm>
          <a:prstGeom prst="roundRect">
            <a:avLst/>
          </a:prstGeom>
          <a:solidFill>
            <a:srgbClr val="1B5FA7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46807" y="3483864"/>
            <a:ext cx="192024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Aptos"/>
              </a:rPr>
              <a:t>application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12767" y="3483864"/>
            <a:ext cx="553212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950" b="0">
                <a:solidFill>
                  <a:srgbClr val="D7E6F7"/>
                </a:solidFill>
                <a:latin typeface="Aptos"/>
              </a:rPr>
              <a:t>RAG kullanım senaryosu orkestrasyonu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478127" y="4114800"/>
            <a:ext cx="9235440" cy="566928"/>
          </a:xfrm>
          <a:prstGeom prst="roundRect">
            <a:avLst/>
          </a:prstGeom>
          <a:solidFill>
            <a:srgbClr val="237BB9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661007" y="4261104"/>
            <a:ext cx="192024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Aptos"/>
              </a:rPr>
              <a:t>domain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26967" y="4261104"/>
            <a:ext cx="690372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950" b="0">
                <a:solidFill>
                  <a:srgbClr val="D7E6F7"/>
                </a:solidFill>
                <a:latin typeface="Aptos"/>
              </a:rPr>
              <a:t>Modeller · sorgu kuralları · kanıt cevapları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83767" y="4892040"/>
            <a:ext cx="10424160" cy="566928"/>
          </a:xfrm>
          <a:prstGeom prst="roundRect">
            <a:avLst/>
          </a:prstGeom>
          <a:solidFill>
            <a:srgbClr val="2E93D2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66647" y="5038344"/>
            <a:ext cx="192024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Aptos"/>
              </a:rPr>
              <a:t>infrastructure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32607" y="5038344"/>
            <a:ext cx="809244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950" b="0">
                <a:solidFill>
                  <a:srgbClr val="D7E6F7"/>
                </a:solidFill>
                <a:latin typeface="Aptos"/>
              </a:rPr>
              <a:t>PDF · manifest · FAISS · BM25 · reranker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97680" y="5897880"/>
            <a:ext cx="3566160" cy="310896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000" b="1">
                <a:solidFill>
                  <a:srgbClr val="38BDF8"/>
                </a:solidFill>
                <a:latin typeface="Aptos"/>
              </a:rPr>
              <a:t>ArchitectureGuardTests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08960" y="6236208"/>
            <a:ext cx="594360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900" b="0">
                <a:solidFill>
                  <a:srgbClr val="9DB4D1"/>
                </a:solidFill>
                <a:latin typeface="Aptos"/>
              </a:rPr>
              <a:t>ince giriş · bağımlılık yönü · Türkçe açıklama standardı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685800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50" b="1">
                <a:solidFill>
                  <a:srgbClr val="5F6B7A"/>
                </a:solidFill>
                <a:latin typeface="Aptos"/>
              </a:rPr>
              <a:t>CMS-RAG  /  BELGE YAŞAM DÖNGÜSÜ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18520" y="201168"/>
            <a:ext cx="59436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900" b="1">
                <a:solidFill>
                  <a:srgbClr val="0B1F3A"/>
                </a:solidFill>
                <a:latin typeface="Aptos"/>
              </a:rPr>
              <a:t>06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94360"/>
            <a:ext cx="11109960" cy="22860"/>
          </a:xfrm>
          <a:prstGeom prst="rect">
            <a:avLst/>
          </a:prstGeom>
          <a:solidFill>
            <a:srgbClr val="1B5F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749808"/>
            <a:ext cx="10789920" cy="5943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0B1F3A"/>
                </a:solidFill>
                <a:latin typeface="Aptos Display"/>
              </a:rPr>
              <a:t>Araştırmadan hazır yerel kanıta kadar izlenebilir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1706879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B5F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2331720"/>
            <a:ext cx="32004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00" b="1">
                <a:solidFill>
                  <a:srgbClr val="38BDF8"/>
                </a:solidFill>
                <a:latin typeface="Apto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633472"/>
            <a:ext cx="1487423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0B1F3A"/>
                </a:solidFill>
                <a:latin typeface="Aptos"/>
              </a:rPr>
              <a:t>Araştır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3017520"/>
            <a:ext cx="1487423" cy="38404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819" b="0">
                <a:solidFill>
                  <a:srgbClr val="5F6B7A"/>
                </a:solidFill>
                <a:latin typeface="Aptos"/>
              </a:rPr>
              <a:t>Birincil kamu kaynağı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346960" y="2907791"/>
            <a:ext cx="137159" cy="0"/>
          </a:xfrm>
          <a:prstGeom prst="line">
            <a:avLst/>
          </a:prstGeom>
          <a:ln w="2286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484120" y="2194560"/>
            <a:ext cx="1706879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93848" y="2331720"/>
            <a:ext cx="32004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00" b="1">
                <a:solidFill>
                  <a:srgbClr val="38BDF8"/>
                </a:solidFill>
                <a:latin typeface="Aptos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93848" y="2633472"/>
            <a:ext cx="1487423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0B1F3A"/>
                </a:solidFill>
                <a:latin typeface="Aptos"/>
              </a:rPr>
              <a:t>Kürasyon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93848" y="3017520"/>
            <a:ext cx="1487423" cy="38404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819" b="0">
                <a:solidFill>
                  <a:srgbClr val="5F6B7A"/>
                </a:solidFill>
                <a:latin typeface="Aptos"/>
              </a:rPr>
              <a:t>Kapsam + kaynak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190999" y="2907791"/>
            <a:ext cx="137161" cy="0"/>
          </a:xfrm>
          <a:prstGeom prst="line">
            <a:avLst/>
          </a:prstGeom>
          <a:ln w="2286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4328160" y="2194560"/>
            <a:ext cx="1706879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B5F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7888" y="2331720"/>
            <a:ext cx="32004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00" b="1">
                <a:solidFill>
                  <a:srgbClr val="38BDF8"/>
                </a:solidFill>
                <a:latin typeface="Aptos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37888" y="2633472"/>
            <a:ext cx="1487423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0B1F3A"/>
                </a:solidFill>
                <a:latin typeface="Aptos"/>
              </a:rPr>
              <a:t>PDF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37888" y="3017520"/>
            <a:ext cx="1487423" cy="38404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819" b="0">
                <a:solidFill>
                  <a:srgbClr val="5F6B7A"/>
                </a:solidFill>
                <a:latin typeface="Aptos"/>
              </a:rPr>
              <a:t>Metin çıkarılabilir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035040" y="2907791"/>
            <a:ext cx="137160" cy="0"/>
          </a:xfrm>
          <a:prstGeom prst="line">
            <a:avLst/>
          </a:prstGeom>
          <a:ln w="2286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172200" y="2194560"/>
            <a:ext cx="1706879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81928" y="2331720"/>
            <a:ext cx="32004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00" b="1">
                <a:solidFill>
                  <a:srgbClr val="38BDF8"/>
                </a:solidFill>
                <a:latin typeface="Aptos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81928" y="2633472"/>
            <a:ext cx="1487423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0B1F3A"/>
                </a:solidFill>
                <a:latin typeface="Aptos"/>
              </a:rPr>
              <a:t>Parçala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81928" y="3017520"/>
            <a:ext cx="1487423" cy="38404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819" b="0">
                <a:solidFill>
                  <a:srgbClr val="5F6B7A"/>
                </a:solidFill>
                <a:latin typeface="Aptos"/>
              </a:rPr>
              <a:t>Sayfa + overlap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879080" y="2907791"/>
            <a:ext cx="137160" cy="0"/>
          </a:xfrm>
          <a:prstGeom prst="line">
            <a:avLst/>
          </a:prstGeom>
          <a:ln w="2286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8016239" y="2194560"/>
            <a:ext cx="1706879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B5F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25967" y="2331720"/>
            <a:ext cx="32004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00" b="1">
                <a:solidFill>
                  <a:srgbClr val="38BDF8"/>
                </a:solidFill>
                <a:latin typeface="Aptos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25967" y="2633472"/>
            <a:ext cx="1487423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0B1F3A"/>
                </a:solidFill>
                <a:latin typeface="Aptos"/>
              </a:rPr>
              <a:t>Embedding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25967" y="3017520"/>
            <a:ext cx="1487423" cy="38404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819" b="0">
                <a:solidFill>
                  <a:srgbClr val="5F6B7A"/>
                </a:solidFill>
                <a:latin typeface="Aptos"/>
              </a:rPr>
              <a:t>Önceden hesapla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723120" y="2907791"/>
            <a:ext cx="137160" cy="0"/>
          </a:xfrm>
          <a:prstGeom prst="line">
            <a:avLst/>
          </a:prstGeom>
          <a:ln w="2286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9860279" y="2194560"/>
            <a:ext cx="1706879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970007" y="2331720"/>
            <a:ext cx="32004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00" b="1">
                <a:solidFill>
                  <a:srgbClr val="38BDF8"/>
                </a:solidFill>
                <a:latin typeface="Aptos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970007" y="2633472"/>
            <a:ext cx="1487423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0B1F3A"/>
                </a:solidFill>
                <a:latin typeface="Aptos"/>
              </a:rPr>
              <a:t>Snapshot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970007" y="3017520"/>
            <a:ext cx="1487423" cy="38404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819" b="0">
                <a:solidFill>
                  <a:srgbClr val="5F6B7A"/>
                </a:solidFill>
                <a:latin typeface="Aptos"/>
              </a:rPr>
              <a:t>Manifest + vektör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13232" y="4251960"/>
            <a:ext cx="5212080" cy="1115568"/>
          </a:xfrm>
          <a:prstGeom prst="roundRect">
            <a:avLst/>
          </a:prstGeom>
          <a:solidFill>
            <a:srgbClr val="EDF9F1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60120" y="4517136"/>
            <a:ext cx="164592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16A34A"/>
                </a:solidFill>
                <a:latin typeface="Aptos"/>
              </a:rPr>
              <a:t>Normal kullanım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423160" y="4517136"/>
            <a:ext cx="3154680" cy="3657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00" b="0">
                <a:solidFill>
                  <a:srgbClr val="172033"/>
                </a:solidFill>
                <a:latin typeface="Aptos"/>
              </a:rPr>
              <a:t>Hazır snapshot yüklenir · web erişimi yok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44768" y="4251960"/>
            <a:ext cx="5212080" cy="1115568"/>
          </a:xfrm>
          <a:prstGeom prst="roundRect">
            <a:avLst/>
          </a:prstGeom>
          <a:solidFill>
            <a:srgbClr val="FFF6E5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00800" y="4517136"/>
            <a:ext cx="146304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F59E0B"/>
                </a:solidFill>
                <a:latin typeface="Aptos"/>
              </a:rPr>
              <a:t>Ek belge?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818120" y="4517136"/>
            <a:ext cx="3154680" cy="3657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00" b="0">
                <a:solidFill>
                  <a:srgbClr val="172033"/>
                </a:solidFill>
                <a:latin typeface="Aptos"/>
              </a:rPr>
              <a:t>SHA-256 kontrolü · yalnız ek belge indekslenir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685800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50" b="1">
                <a:solidFill>
                  <a:srgbClr val="5F6B7A"/>
                </a:solidFill>
                <a:latin typeface="Aptos"/>
              </a:rPr>
              <a:t>CMS-RAG  /  RAG HATTI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18520" y="201168"/>
            <a:ext cx="59436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900" b="1">
                <a:solidFill>
                  <a:srgbClr val="0B1F3A"/>
                </a:solidFill>
                <a:latin typeface="Aptos"/>
              </a:rPr>
              <a:t>07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94360"/>
            <a:ext cx="11109960" cy="22860"/>
          </a:xfrm>
          <a:prstGeom prst="rect">
            <a:avLst/>
          </a:prstGeom>
          <a:solidFill>
            <a:srgbClr val="1B5F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749808"/>
            <a:ext cx="10789920" cy="5943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0B1F3A"/>
                </a:solidFill>
                <a:latin typeface="Aptos Display"/>
              </a:rPr>
              <a:t>Hibrit retrieval: anlam + terim + yeniden sıralama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03120"/>
            <a:ext cx="1443445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B5F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2240279"/>
            <a:ext cx="32004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00" b="1">
                <a:solidFill>
                  <a:srgbClr val="38BDF8"/>
                </a:solidFill>
                <a:latin typeface="Apto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542032"/>
            <a:ext cx="1223989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0B1F3A"/>
                </a:solidFill>
                <a:latin typeface="Aptos"/>
              </a:rPr>
              <a:t>Soru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926079"/>
            <a:ext cx="1223989" cy="38404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819" b="0">
                <a:solidFill>
                  <a:srgbClr val="5F6B7A"/>
                </a:solidFill>
                <a:latin typeface="Aptos"/>
              </a:rPr>
              <a:t>Türkçe doğal dil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083525" y="2816352"/>
            <a:ext cx="137160" cy="0"/>
          </a:xfrm>
          <a:prstGeom prst="line">
            <a:avLst/>
          </a:prstGeom>
          <a:ln w="2286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220685" y="2103120"/>
            <a:ext cx="1443445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30413" y="2240279"/>
            <a:ext cx="32004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00" b="1">
                <a:solidFill>
                  <a:srgbClr val="38BDF8"/>
                </a:solidFill>
                <a:latin typeface="Aptos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30413" y="2542032"/>
            <a:ext cx="1223989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0B1F3A"/>
                </a:solidFill>
                <a:latin typeface="Aptos"/>
              </a:rPr>
              <a:t>Expand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30413" y="2926079"/>
            <a:ext cx="1223989" cy="38404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819" b="0">
                <a:solidFill>
                  <a:srgbClr val="5F6B7A"/>
                </a:solidFill>
                <a:latin typeface="Aptos"/>
              </a:rPr>
              <a:t>CMS sözlüğü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664131" y="2816352"/>
            <a:ext cx="137160" cy="0"/>
          </a:xfrm>
          <a:prstGeom prst="line">
            <a:avLst/>
          </a:prstGeom>
          <a:ln w="2286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3801291" y="2103120"/>
            <a:ext cx="1443445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B5F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11019" y="2240279"/>
            <a:ext cx="32004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00" b="1">
                <a:solidFill>
                  <a:srgbClr val="38BDF8"/>
                </a:solidFill>
                <a:latin typeface="Aptos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11019" y="2542032"/>
            <a:ext cx="1223989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0B1F3A"/>
                </a:solidFill>
                <a:latin typeface="Aptos"/>
              </a:rPr>
              <a:t>Semantic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11019" y="2926079"/>
            <a:ext cx="1223989" cy="38404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819" b="0">
                <a:solidFill>
                  <a:srgbClr val="5F6B7A"/>
                </a:solidFill>
                <a:latin typeface="Aptos"/>
              </a:rPr>
              <a:t>BGE + FAISS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244737" y="2816352"/>
            <a:ext cx="137160" cy="0"/>
          </a:xfrm>
          <a:prstGeom prst="line">
            <a:avLst/>
          </a:prstGeom>
          <a:ln w="2286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381897" y="2103120"/>
            <a:ext cx="1443445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91625" y="2240279"/>
            <a:ext cx="32004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00" b="1">
                <a:solidFill>
                  <a:srgbClr val="38BDF8"/>
                </a:solidFill>
                <a:latin typeface="Aptos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91625" y="2542032"/>
            <a:ext cx="1223989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0B1F3A"/>
                </a:solidFill>
                <a:latin typeface="Aptos"/>
              </a:rPr>
              <a:t>BM25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91625" y="2926079"/>
            <a:ext cx="1223989" cy="38404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819" b="0">
                <a:solidFill>
                  <a:srgbClr val="5F6B7A"/>
                </a:solidFill>
                <a:latin typeface="Aptos"/>
              </a:rPr>
              <a:t>Kesin terim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825342" y="2816352"/>
            <a:ext cx="137160" cy="0"/>
          </a:xfrm>
          <a:prstGeom prst="line">
            <a:avLst/>
          </a:prstGeom>
          <a:ln w="2286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6962502" y="2103120"/>
            <a:ext cx="1443445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B5F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072230" y="2240279"/>
            <a:ext cx="32004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00" b="1">
                <a:solidFill>
                  <a:srgbClr val="38BDF8"/>
                </a:solidFill>
                <a:latin typeface="Aptos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72230" y="2542032"/>
            <a:ext cx="1223989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0B1F3A"/>
                </a:solidFill>
                <a:latin typeface="Aptos"/>
              </a:rPr>
              <a:t>RRF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72230" y="2926079"/>
            <a:ext cx="1223989" cy="38404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819" b="0">
                <a:solidFill>
                  <a:srgbClr val="5F6B7A"/>
                </a:solidFill>
                <a:latin typeface="Aptos"/>
              </a:rPr>
              <a:t>Sıra füzyonu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405948" y="2816352"/>
            <a:ext cx="137160" cy="0"/>
          </a:xfrm>
          <a:prstGeom prst="line">
            <a:avLst/>
          </a:prstGeom>
          <a:ln w="2286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8543108" y="2103120"/>
            <a:ext cx="1443445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52836" y="2240279"/>
            <a:ext cx="32004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00" b="1">
                <a:solidFill>
                  <a:srgbClr val="38BDF8"/>
                </a:solidFill>
                <a:latin typeface="Aptos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52836" y="2542032"/>
            <a:ext cx="1223989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0B1F3A"/>
                </a:solidFill>
                <a:latin typeface="Aptos"/>
              </a:rPr>
              <a:t>Rerank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52836" y="2926079"/>
            <a:ext cx="1223989" cy="38404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819" b="0">
                <a:solidFill>
                  <a:srgbClr val="5F6B7A"/>
                </a:solidFill>
                <a:latin typeface="Aptos"/>
              </a:rPr>
              <a:t>Cross-encoder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986554" y="2816352"/>
            <a:ext cx="137160" cy="0"/>
          </a:xfrm>
          <a:prstGeom prst="line">
            <a:avLst/>
          </a:prstGeom>
          <a:ln w="2286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10123714" y="2103120"/>
            <a:ext cx="1443445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B5F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233442" y="2240279"/>
            <a:ext cx="32004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00" b="1">
                <a:solidFill>
                  <a:srgbClr val="38BDF8"/>
                </a:solidFill>
                <a:latin typeface="Aptos"/>
              </a:rPr>
              <a:t>07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233442" y="2542032"/>
            <a:ext cx="1223989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0B1F3A"/>
                </a:solidFill>
                <a:latin typeface="Aptos"/>
              </a:rPr>
              <a:t>Kanıt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233442" y="2926079"/>
            <a:ext cx="1223989" cy="38404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819" b="0">
                <a:solidFill>
                  <a:srgbClr val="5F6B7A"/>
                </a:solidFill>
                <a:latin typeface="Aptos"/>
              </a:rPr>
              <a:t>Sayfa birleştirme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5840" y="4251960"/>
            <a:ext cx="1371600" cy="29260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1B5FA7"/>
                </a:solidFill>
                <a:latin typeface="Aptos"/>
              </a:rPr>
              <a:t>Semantic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148840" y="4251960"/>
            <a:ext cx="388620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50" b="0">
                <a:solidFill>
                  <a:srgbClr val="5F6B7A"/>
                </a:solidFill>
                <a:latin typeface="Aptos"/>
              </a:rPr>
              <a:t>“Savaş gemisi” ↔ “surface platform” anlam yakınlığı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05840" y="4818888"/>
            <a:ext cx="1371600" cy="29260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F59E0B"/>
                </a:solidFill>
                <a:latin typeface="Aptos"/>
              </a:rPr>
              <a:t>BM25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148840" y="4818888"/>
            <a:ext cx="388620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50" b="0">
                <a:solidFill>
                  <a:srgbClr val="5F6B7A"/>
                </a:solidFill>
                <a:latin typeface="Aptos"/>
              </a:rPr>
              <a:t>ADVENT · MÜREN · Link 11 · Link 16 kesin eşleşmesi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720840" y="4160520"/>
            <a:ext cx="4434840" cy="1143000"/>
          </a:xfrm>
          <a:prstGeom prst="round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040880" y="4407408"/>
            <a:ext cx="914400" cy="34747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38BDF8"/>
                </a:solidFill>
                <a:latin typeface="Aptos"/>
              </a:rPr>
              <a:t>RRF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92440" y="4425696"/>
            <a:ext cx="219456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ptos"/>
              </a:rPr>
              <a:t>1 / (60 + sıra)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059168" y="4892040"/>
            <a:ext cx="361188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950" b="0">
                <a:solidFill>
                  <a:srgbClr val="C7D5E8"/>
                </a:solidFill>
                <a:latin typeface="Aptos"/>
              </a:rPr>
              <a:t>Farklı puan ölçeklerini istikrarlı birleştirir.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685800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50" b="1">
                <a:solidFill>
                  <a:srgbClr val="5F6B7A"/>
                </a:solidFill>
                <a:latin typeface="Aptos"/>
              </a:rPr>
              <a:t>CMS-RAG  /  CEVAP GÜVENILIRLIĞI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18520" y="201168"/>
            <a:ext cx="59436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900" b="1">
                <a:solidFill>
                  <a:srgbClr val="0B1F3A"/>
                </a:solidFill>
                <a:latin typeface="Aptos"/>
              </a:rPr>
              <a:t>08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94360"/>
            <a:ext cx="11109960" cy="22860"/>
          </a:xfrm>
          <a:prstGeom prst="rect">
            <a:avLst/>
          </a:prstGeom>
          <a:solidFill>
            <a:srgbClr val="1B5F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749808"/>
            <a:ext cx="10789920" cy="5943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0B1F3A"/>
                </a:solidFill>
                <a:latin typeface="Aptos Display"/>
              </a:rPr>
              <a:t>Model en son adım; karar zincirinin tamamı değil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874519"/>
            <a:ext cx="3429000" cy="13898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7" y="2039112"/>
            <a:ext cx="411480" cy="329184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B5FA7"/>
                </a:solidFill>
                <a:latin typeface="Aptos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16736" y="2020824"/>
            <a:ext cx="246888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0B1F3A"/>
                </a:solidFill>
                <a:latin typeface="Aptos"/>
              </a:rPr>
              <a:t>İndeks var mı?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16736" y="2532887"/>
            <a:ext cx="2423160" cy="420624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50" b="0">
                <a:solidFill>
                  <a:srgbClr val="5F6B7A"/>
                </a:solidFill>
                <a:latin typeface="Aptos"/>
              </a:rPr>
              <a:t>Yoksa yükleme yönlendirmesi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25696" y="1874519"/>
            <a:ext cx="3429000" cy="13898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08576" y="2039112"/>
            <a:ext cx="411480" cy="329184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B5FA7"/>
                </a:solidFill>
                <a:latin typeface="Aptos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064" y="2020824"/>
            <a:ext cx="246888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0B1F3A"/>
                </a:solidFill>
                <a:latin typeface="Aptos"/>
              </a:rPr>
              <a:t>Alan içi mi?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84064" y="2532887"/>
            <a:ext cx="2423160" cy="420624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50" b="0">
                <a:solidFill>
                  <a:srgbClr val="5F6B7A"/>
                </a:solidFill>
                <a:latin typeface="Aptos"/>
              </a:rPr>
              <a:t>Kişisel sohbet → güvenli ret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93024" y="1874519"/>
            <a:ext cx="3429000" cy="13898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75904" y="2039112"/>
            <a:ext cx="411480" cy="329184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6A34A"/>
                </a:solidFill>
                <a:latin typeface="Apto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51392" y="2020824"/>
            <a:ext cx="246888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0B1F3A"/>
                </a:solidFill>
                <a:latin typeface="Aptos"/>
              </a:rPr>
              <a:t>Kesin kanıt var mı?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51392" y="2532887"/>
            <a:ext cx="2423160" cy="420624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50" b="0">
                <a:solidFill>
                  <a:srgbClr val="5F6B7A"/>
                </a:solidFill>
                <a:latin typeface="Aptos"/>
              </a:rPr>
              <a:t>Deterministik kaynaklı cevap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3703320"/>
            <a:ext cx="3429000" cy="13898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7" y="3867911"/>
            <a:ext cx="411480" cy="329184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B5FA7"/>
                </a:solidFill>
                <a:latin typeface="Aptos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16736" y="3849624"/>
            <a:ext cx="246888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0B1F3A"/>
                </a:solidFill>
                <a:latin typeface="Aptos"/>
              </a:rPr>
              <a:t>Retrieval yeterli mi?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16736" y="4361688"/>
            <a:ext cx="2423160" cy="420624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50" b="0">
                <a:solidFill>
                  <a:srgbClr val="5F6B7A"/>
                </a:solidFill>
                <a:latin typeface="Aptos"/>
              </a:rPr>
              <a:t>Kapsam filtreli adaylar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25696" y="3703320"/>
            <a:ext cx="3429000" cy="13898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08576" y="3867911"/>
            <a:ext cx="411480" cy="329184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B5FA7"/>
                </a:solidFill>
                <a:latin typeface="Aptos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84064" y="3849624"/>
            <a:ext cx="246888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0B1F3A"/>
                </a:solidFill>
                <a:latin typeface="Aptos"/>
              </a:rPr>
              <a:t>Ollama üretimi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84064" y="4361688"/>
            <a:ext cx="2423160" cy="420624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50" b="0">
                <a:solidFill>
                  <a:srgbClr val="5F6B7A"/>
                </a:solidFill>
                <a:latin typeface="Aptos"/>
              </a:rPr>
              <a:t>≤55 kelime · düşük sıcaklık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93024" y="3703320"/>
            <a:ext cx="3429000" cy="13898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75904" y="3867911"/>
            <a:ext cx="411480" cy="329184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6A34A"/>
                </a:solidFill>
                <a:latin typeface="Aptos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51392" y="3849624"/>
            <a:ext cx="246888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0B1F3A"/>
                </a:solidFill>
                <a:latin typeface="Aptos"/>
              </a:rPr>
              <a:t>Kaynak kontrolü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51392" y="4361688"/>
            <a:ext cx="2423160" cy="420624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50" b="0">
                <a:solidFill>
                  <a:srgbClr val="5F6B7A"/>
                </a:solidFill>
                <a:latin typeface="Aptos"/>
              </a:rPr>
              <a:t>[SOURCE n] + kanıt kartı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8" y="5715000"/>
            <a:ext cx="2743200" cy="29260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DC2626"/>
                </a:solidFill>
                <a:latin typeface="Aptos"/>
              </a:rPr>
              <a:t>Servis hatası ≠ kanıt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26080" y="5715000"/>
            <a:ext cx="790956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50" b="0">
                <a:solidFill>
                  <a:srgbClr val="5F6B7A"/>
                </a:solidFill>
                <a:latin typeface="Aptos"/>
              </a:rPr>
              <a:t>Ollama erişilemiyorsa retrieval sonuçları kullanıcıya kaynak diye gösterilmez.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685800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50" b="1">
                <a:solidFill>
                  <a:srgbClr val="B8C7DC"/>
                </a:solidFill>
                <a:latin typeface="Aptos"/>
              </a:rPr>
              <a:t>CMS-RAG  /  AGENTIC KALICILIK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18520" y="201168"/>
            <a:ext cx="59436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900" b="1">
                <a:solidFill>
                  <a:srgbClr val="FFFFFF"/>
                </a:solidFill>
                <a:latin typeface="Aptos"/>
              </a:rPr>
              <a:t>09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94360"/>
            <a:ext cx="11109960" cy="2286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749808"/>
            <a:ext cx="10789920" cy="5943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ptos Display"/>
              </a:rPr>
              <a:t>Konuşma, kanıt ve bekleyen onay yeniden başlatmada korunur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74519"/>
            <a:ext cx="4983480" cy="731520"/>
          </a:xfrm>
          <a:prstGeom prst="roundRect">
            <a:avLst/>
          </a:prstGeom>
          <a:solidFill>
            <a:srgbClr val="15365F"/>
          </a:solidFill>
          <a:ln w="12700">
            <a:solidFill>
              <a:srgbClr val="1B5F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84831"/>
            <a:ext cx="448056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tos"/>
              </a:rPr>
              <a:t>ADVENT nedir?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743200"/>
            <a:ext cx="4983480" cy="868680"/>
          </a:xfrm>
          <a:prstGeom prst="roundRect">
            <a:avLst/>
          </a:prstGeom>
          <a:solidFill>
            <a:srgbClr val="1B416F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944368"/>
            <a:ext cx="448056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tos"/>
              </a:rPr>
              <a:t>Örnekleri var mı?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29000" y="3310128"/>
            <a:ext cx="1920240" cy="18288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38BDF8"/>
                </a:solidFill>
                <a:latin typeface="Aptos"/>
              </a:rPr>
              <a:t>← aynı official geçmişi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3794760"/>
            <a:ext cx="4983480" cy="868680"/>
          </a:xfrm>
          <a:prstGeom prst="roundRect">
            <a:avLst/>
          </a:prstGeom>
          <a:solidFill>
            <a:srgbClr val="174A46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005072"/>
            <a:ext cx="448056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tos"/>
              </a:rPr>
              <a:t>NATO interoperability?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54680" y="4370832"/>
            <a:ext cx="2194560" cy="18288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7EE2BA"/>
                </a:solidFill>
                <a:latin typeface="Aptos"/>
              </a:rPr>
              <a:t>← open_source: yeni bağlam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89320" y="1783080"/>
            <a:ext cx="73152" cy="32461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26480" y="2743200"/>
            <a:ext cx="731520" cy="7315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800" b="1">
                <a:solidFill>
                  <a:srgbClr val="F59E0B"/>
                </a:solidFill>
                <a:latin typeface="Aptos"/>
              </a:rPr>
              <a:t>SCOPE
WALL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086600" y="1965960"/>
            <a:ext cx="4160520" cy="1143000"/>
          </a:xfrm>
          <a:prstGeom prst="roundRect">
            <a:avLst/>
          </a:prstGeom>
          <a:solidFill>
            <a:srgbClr val="13335A"/>
          </a:solidFill>
          <a:ln w="12700">
            <a:solidFill>
              <a:srgbClr val="1B5F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60920" y="2212848"/>
            <a:ext cx="356616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ptos"/>
              </a:rPr>
              <a:t>official history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60920" y="2624328"/>
            <a:ext cx="356616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00" b="0">
                <a:solidFill>
                  <a:srgbClr val="AFC2DA"/>
                </a:solidFill>
                <a:latin typeface="Aptos"/>
              </a:rPr>
              <a:t>ADVENT ürün bağlamı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86600" y="3456432"/>
            <a:ext cx="4160520" cy="1143000"/>
          </a:xfrm>
          <a:prstGeom prst="roundRect">
            <a:avLst/>
          </a:prstGeom>
          <a:solidFill>
            <a:srgbClr val="174A46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60920" y="3703320"/>
            <a:ext cx="356616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ptos"/>
              </a:rPr>
              <a:t>open_source history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60920" y="4114800"/>
            <a:ext cx="356616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00" b="0">
                <a:solidFill>
                  <a:srgbClr val="BDE7D5"/>
                </a:solidFill>
                <a:latin typeface="Aptos"/>
              </a:rPr>
              <a:t>NATO genel birlikte çalışabilirlik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48840" y="5715000"/>
            <a:ext cx="7955279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38BDF8"/>
                </a:solidFill>
                <a:latin typeface="Aptos"/>
              </a:rPr>
              <a:t>PostgreSQL checkpoint · thread geri yükleme · MCP interrupt / resume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685800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50" b="1">
                <a:solidFill>
                  <a:srgbClr val="5F6B7A"/>
                </a:solidFill>
                <a:latin typeface="Aptos"/>
              </a:rPr>
              <a:t>CMS-RAG  /  KULLANICI DENEYIMI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18520" y="201168"/>
            <a:ext cx="59436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900" b="1">
                <a:solidFill>
                  <a:srgbClr val="0B1F3A"/>
                </a:solidFill>
                <a:latin typeface="Aptos"/>
              </a:rPr>
              <a:t>10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94360"/>
            <a:ext cx="11109960" cy="22860"/>
          </a:xfrm>
          <a:prstGeom prst="rect">
            <a:avLst/>
          </a:prstGeom>
          <a:solidFill>
            <a:srgbClr val="1B5F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749808"/>
            <a:ext cx="10789920" cy="5943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0B1F3A"/>
                </a:solidFill>
                <a:latin typeface="Aptos Display"/>
              </a:rPr>
              <a:t>Arayüzün ana ürünü: görünür kanıt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691640"/>
            <a:ext cx="10881360" cy="4251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91640"/>
            <a:ext cx="2331720" cy="425196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938528"/>
            <a:ext cx="1874519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ptos"/>
              </a:rPr>
              <a:t>◆ Knowledge Operations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60120" y="2606040"/>
            <a:ext cx="1508760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670048"/>
            <a:ext cx="1362456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38BDF8"/>
                </a:solidFill>
                <a:latin typeface="Aptos"/>
              </a:rPr>
              <a:t>KAPSAM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60120" y="3182112"/>
            <a:ext cx="1508760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33272" y="3246120"/>
            <a:ext cx="1362456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38BDF8"/>
                </a:solidFill>
                <a:latin typeface="Aptos"/>
              </a:rPr>
              <a:t>PDF YÜKLE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0120" y="3758184"/>
            <a:ext cx="1508760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33272" y="3822192"/>
            <a:ext cx="1362456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38BDF8"/>
                </a:solidFill>
                <a:latin typeface="Aptos"/>
              </a:rPr>
              <a:t>İNDEKSI YENILE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663440"/>
            <a:ext cx="1737360" cy="7772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900" b="0">
                <a:solidFill>
                  <a:srgbClr val="AFC2DA"/>
                </a:solidFill>
                <a:latin typeface="Aptos"/>
              </a:rPr>
              <a:t>Model · qwen2.5:3b
Belge · 1
Arama · Hybrid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938528"/>
            <a:ext cx="4389120" cy="43891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400" b="1">
                <a:solidFill>
                  <a:srgbClr val="0B1F3A"/>
                </a:solidFill>
                <a:latin typeface="Aptos"/>
              </a:rPr>
              <a:t>Komuta Bilgi Keşfi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37560" y="2697480"/>
            <a:ext cx="7680960" cy="566928"/>
          </a:xfrm>
          <a:prstGeom prst="roundRect">
            <a:avLst/>
          </a:prstGeom>
          <a:solidFill>
            <a:srgbClr val="F3F6FA"/>
          </a:solidFill>
          <a:ln w="12700">
            <a:solidFill>
              <a:srgbClr val="F3F6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66160" y="2880360"/>
            <a:ext cx="7040880" cy="20116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00" b="0">
                <a:solidFill>
                  <a:srgbClr val="172033"/>
                </a:solidFill>
                <a:latin typeface="Aptos"/>
              </a:rPr>
              <a:t>ADVENT nedir?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337560" y="3456432"/>
            <a:ext cx="7680960" cy="960120"/>
          </a:xfrm>
          <a:prstGeom prst="roundRect">
            <a:avLst/>
          </a:prstGeom>
          <a:solidFill>
            <a:srgbClr val="F7FAFE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566160" y="3639312"/>
            <a:ext cx="1828800" cy="18288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1B5FA7"/>
                </a:solidFill>
                <a:latin typeface="Aptos"/>
              </a:rPr>
              <a:t>KAYNAKLI YANIT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3931920"/>
            <a:ext cx="6995160" cy="29260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50" b="0">
                <a:solidFill>
                  <a:srgbClr val="172033"/>
                </a:solidFill>
                <a:latin typeface="Aptos"/>
              </a:rPr>
              <a:t>ADVENT, farklı operasyonel ortamlar için uyarlanabilen bir CMS ürün ailesidir [SOURCE 1].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566160" y="4617720"/>
            <a:ext cx="7223760" cy="594360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1B5F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794760" y="4809744"/>
            <a:ext cx="6766560" cy="21031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950" b="1">
                <a:solidFill>
                  <a:srgbClr val="1B5FA7"/>
                </a:solidFill>
                <a:latin typeface="Aptos"/>
              </a:rPr>
              <a:t>Kanıt paketi · advent_cms.pdf · Sayfa 4 · official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0" y="5532120"/>
            <a:ext cx="164592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16A34A"/>
                </a:solidFill>
                <a:latin typeface="Aptos"/>
              </a:rPr>
              <a:t>Akışlı yazım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0" y="5532120"/>
            <a:ext cx="210312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1B5FA7"/>
                </a:solidFill>
                <a:latin typeface="Aptos"/>
              </a:rPr>
              <a:t>Kalıcı kaynak kartı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5532120"/>
            <a:ext cx="146304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F59E0B"/>
                </a:solidFill>
                <a:latin typeface="Aptos"/>
              </a:rPr>
              <a:t>Güvenli ret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685800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50" b="1">
                <a:solidFill>
                  <a:srgbClr val="5F6B7A"/>
                </a:solidFill>
                <a:latin typeface="Aptos"/>
              </a:rPr>
              <a:t>CMS-RAG  /  TEST VE KABUL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18520" y="201168"/>
            <a:ext cx="59436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900" b="1">
                <a:solidFill>
                  <a:srgbClr val="0B1F3A"/>
                </a:solidFill>
                <a:latin typeface="Aptos"/>
              </a:rPr>
              <a:t>11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94360"/>
            <a:ext cx="11109960" cy="22860"/>
          </a:xfrm>
          <a:prstGeom prst="rect">
            <a:avLst/>
          </a:prstGeom>
          <a:solidFill>
            <a:srgbClr val="1B5F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749808"/>
            <a:ext cx="10789920" cy="5943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0B1F3A"/>
                </a:solidFill>
                <a:latin typeface="Aptos Display"/>
              </a:rPr>
              <a:t>“Çalışıyor” değil; ölçülmüş ve yeniden üretilmiş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828800"/>
            <a:ext cx="228600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828800"/>
            <a:ext cx="73152" cy="105156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1965960"/>
            <a:ext cx="1965960" cy="43891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0B1F3A"/>
                </a:solidFill>
                <a:latin typeface="Aptos"/>
              </a:rPr>
              <a:t>148 / 148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2450592"/>
            <a:ext cx="196596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950" b="1">
                <a:solidFill>
                  <a:srgbClr val="5F6B7A"/>
                </a:solidFill>
                <a:latin typeface="Aptos"/>
              </a:rPr>
              <a:t>OTOMATİK TEST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090672" y="1828800"/>
            <a:ext cx="228600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090672" y="1828800"/>
            <a:ext cx="73152" cy="105156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91840" y="1965960"/>
            <a:ext cx="1965960" cy="43891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0B1F3A"/>
                </a:solidFill>
                <a:latin typeface="Aptos"/>
              </a:rPr>
              <a:t>45 / 45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2450592"/>
            <a:ext cx="196596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950" b="1">
                <a:solidFill>
                  <a:srgbClr val="5F6B7A"/>
                </a:solidFill>
                <a:latin typeface="Aptos"/>
              </a:rPr>
              <a:t>ALTIN SET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522976" y="1828800"/>
            <a:ext cx="228600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522976" y="1828800"/>
            <a:ext cx="73152" cy="10515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24144" y="1965960"/>
            <a:ext cx="1965960" cy="43891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0B1F3A"/>
                </a:solidFill>
                <a:latin typeface="Aptos"/>
              </a:rPr>
              <a:t>30 / 30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24144" y="2450592"/>
            <a:ext cx="196596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950" b="1">
                <a:solidFill>
                  <a:srgbClr val="5F6B7A"/>
                </a:solidFill>
                <a:latin typeface="Aptos"/>
              </a:rPr>
              <a:t>LLM HAKEM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55279" y="1828800"/>
            <a:ext cx="228600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55279" y="1828800"/>
            <a:ext cx="73152" cy="1051560"/>
          </a:xfrm>
          <a:prstGeom prst="rect">
            <a:avLst/>
          </a:prstGeom>
          <a:solidFill>
            <a:srgbClr val="1B5F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6448" y="1965960"/>
            <a:ext cx="1965960" cy="43891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0B1F3A"/>
                </a:solidFill>
                <a:latin typeface="Aptos"/>
              </a:rPr>
              <a:t>0 / 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56448" y="2450592"/>
            <a:ext cx="196596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950" b="1">
                <a:solidFill>
                  <a:srgbClr val="5F6B7A"/>
                </a:solidFill>
                <a:latin typeface="Aptos"/>
              </a:rPr>
              <a:t>20 VAKA FP / FN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3337560"/>
            <a:ext cx="132588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5F6B7A"/>
                </a:solidFill>
                <a:latin typeface="Aptos"/>
              </a:rPr>
              <a:t>Storage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148840" y="3364991"/>
            <a:ext cx="6949440" cy="164592"/>
          </a:xfrm>
          <a:prstGeom prst="rect">
            <a:avLst/>
          </a:prstGeom>
          <a:solidFill>
            <a:srgbClr val="E5EAF0"/>
          </a:solidFill>
          <a:ln w="12700">
            <a:solidFill>
              <a:srgbClr val="E5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148840" y="3364991"/>
            <a:ext cx="1853183" cy="164592"/>
          </a:xfrm>
          <a:prstGeom prst="rect">
            <a:avLst/>
          </a:prstGeom>
          <a:solidFill>
            <a:srgbClr val="1B5FA7"/>
          </a:solidFill>
          <a:ln w="12700">
            <a:solidFill>
              <a:srgbClr val="1B5F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35440" y="3328416"/>
            <a:ext cx="41148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B1F3A"/>
                </a:solidFill>
                <a:latin typeface="Aptos"/>
              </a:rPr>
              <a:t>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3840480"/>
            <a:ext cx="132588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5F6B7A"/>
                </a:solidFill>
                <a:latin typeface="Aptos"/>
              </a:rPr>
              <a:t>Engine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148840" y="3867912"/>
            <a:ext cx="6949440" cy="164592"/>
          </a:xfrm>
          <a:prstGeom prst="rect">
            <a:avLst/>
          </a:prstGeom>
          <a:solidFill>
            <a:srgbClr val="E5EAF0"/>
          </a:solidFill>
          <a:ln w="12700">
            <a:solidFill>
              <a:srgbClr val="E5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148840" y="3867912"/>
            <a:ext cx="6949440" cy="16459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35440" y="3831336"/>
            <a:ext cx="41148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B1F3A"/>
                </a:solidFill>
                <a:latin typeface="Aptos"/>
              </a:rPr>
              <a:t>30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4343400"/>
            <a:ext cx="132588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5F6B7A"/>
                </a:solidFill>
                <a:latin typeface="Aptos"/>
              </a:rPr>
              <a:t>UI + PDF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148840" y="4370832"/>
            <a:ext cx="6949440" cy="164592"/>
          </a:xfrm>
          <a:prstGeom prst="rect">
            <a:avLst/>
          </a:prstGeom>
          <a:solidFill>
            <a:srgbClr val="E5EAF0"/>
          </a:solidFill>
          <a:ln w="12700">
            <a:solidFill>
              <a:srgbClr val="E5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148840" y="4370832"/>
            <a:ext cx="3938016" cy="16459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235440" y="4334256"/>
            <a:ext cx="41148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B1F3A"/>
                </a:solidFill>
                <a:latin typeface="Aptos"/>
              </a:rPr>
              <a:t>17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4846320"/>
            <a:ext cx="132588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5F6B7A"/>
                </a:solidFill>
                <a:latin typeface="Aptos"/>
              </a:rPr>
              <a:t>Eval + Audit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148840" y="4873752"/>
            <a:ext cx="6949440" cy="164592"/>
          </a:xfrm>
          <a:prstGeom prst="rect">
            <a:avLst/>
          </a:prstGeom>
          <a:solidFill>
            <a:srgbClr val="E5EAF0"/>
          </a:solidFill>
          <a:ln w="12700">
            <a:solidFill>
              <a:srgbClr val="E5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148840" y="4873752"/>
            <a:ext cx="4401312" cy="16459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235440" y="4837176"/>
            <a:ext cx="41148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B1F3A"/>
                </a:solidFill>
                <a:latin typeface="Aptos"/>
              </a:rPr>
              <a:t>19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" y="5349240"/>
            <a:ext cx="132588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5F6B7A"/>
                </a:solidFill>
                <a:latin typeface="Aptos"/>
              </a:rPr>
              <a:t>Architecture + KB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148840" y="5376672"/>
            <a:ext cx="6949440" cy="164592"/>
          </a:xfrm>
          <a:prstGeom prst="rect">
            <a:avLst/>
          </a:prstGeom>
          <a:solidFill>
            <a:srgbClr val="E5EAF0"/>
          </a:solidFill>
          <a:ln w="12700">
            <a:solidFill>
              <a:srgbClr val="E5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148840" y="5376672"/>
            <a:ext cx="1853183" cy="164592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235440" y="5340096"/>
            <a:ext cx="41148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B1F3A"/>
                </a:solidFill>
                <a:latin typeface="Aptos"/>
              </a:rPr>
              <a:t>8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921240" y="3310128"/>
            <a:ext cx="1417320" cy="2286000"/>
          </a:xfrm>
          <a:prstGeom prst="round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058400" y="3657600"/>
            <a:ext cx="1143000" cy="5943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400" b="1">
                <a:solidFill>
                  <a:srgbClr val="38BDF8"/>
                </a:solidFill>
                <a:latin typeface="Aptos"/>
              </a:rPr>
              <a:t>GIT
ARCHIVE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8400" y="4498848"/>
            <a:ext cx="1143000" cy="5486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900" b="0">
                <a:solidFill>
                  <a:srgbClr val="FFFFFF"/>
                </a:solidFill>
                <a:latin typeface="Aptos"/>
              </a:rPr>
              <a:t>temiz kopyada
aynı sonuç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685800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50" b="1">
                <a:solidFill>
                  <a:srgbClr val="B8C7DC"/>
                </a:solidFill>
                <a:latin typeface="Aptos"/>
              </a:rPr>
              <a:t>CMS-RAG  /  GÜVENLIK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18520" y="201168"/>
            <a:ext cx="59436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900" b="1">
                <a:solidFill>
                  <a:srgbClr val="FFFFFF"/>
                </a:solidFill>
                <a:latin typeface="Aptos"/>
              </a:rPr>
              <a:t>12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94360"/>
            <a:ext cx="11109960" cy="2286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749808"/>
            <a:ext cx="10789920" cy="5943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ptos Display"/>
              </a:rPr>
              <a:t>Yerel çalışma + kontrollü kaynak + güvenli hata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74519"/>
            <a:ext cx="3429000" cy="1280160"/>
          </a:xfrm>
          <a:prstGeom prst="roundRect">
            <a:avLst/>
          </a:prstGeom>
          <a:solidFill>
            <a:srgbClr val="14345B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86968" y="2075688"/>
            <a:ext cx="960120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139696"/>
            <a:ext cx="813816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38BDF8"/>
                </a:solidFill>
                <a:latin typeface="Aptos"/>
              </a:rPr>
              <a:t>LOCAL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532887"/>
            <a:ext cx="2926080" cy="38404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  <a:latin typeface="Aptos"/>
              </a:rPr>
              <a:t>Belge metni bulut LLM'e gitmez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53128" y="1874519"/>
            <a:ext cx="3429000" cy="1280160"/>
          </a:xfrm>
          <a:prstGeom prst="roundRect">
            <a:avLst/>
          </a:prstGeom>
          <a:solidFill>
            <a:srgbClr val="14345B"/>
          </a:solidFill>
          <a:ln w="12700">
            <a:solidFill>
              <a:srgbClr val="3157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654296" y="2075688"/>
            <a:ext cx="960120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27448" y="2139696"/>
            <a:ext cx="813816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38BDF8"/>
                </a:solidFill>
                <a:latin typeface="Aptos"/>
              </a:rPr>
              <a:t>HASH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54296" y="2532887"/>
            <a:ext cx="2926080" cy="38404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  <a:latin typeface="Aptos"/>
              </a:rPr>
              <a:t>SHA-256 duplicate ve bütünlük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0456" y="1874519"/>
            <a:ext cx="3429000" cy="1280160"/>
          </a:xfrm>
          <a:prstGeom prst="roundRect">
            <a:avLst/>
          </a:prstGeom>
          <a:solidFill>
            <a:srgbClr val="14345B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21624" y="2075688"/>
            <a:ext cx="960120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94776" y="2139696"/>
            <a:ext cx="813816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38BDF8"/>
                </a:solidFill>
                <a:latin typeface="Aptos"/>
              </a:rPr>
              <a:t>SCOPE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21624" y="2532887"/>
            <a:ext cx="2926080" cy="38404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  <a:latin typeface="Aptos"/>
              </a:rPr>
              <a:t>Koleksiyon ve geçmiş izolasyonu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3566160"/>
            <a:ext cx="3429000" cy="1280160"/>
          </a:xfrm>
          <a:prstGeom prst="roundRect">
            <a:avLst/>
          </a:prstGeom>
          <a:solidFill>
            <a:srgbClr val="14345B"/>
          </a:solidFill>
          <a:ln w="12700">
            <a:solidFill>
              <a:srgbClr val="3157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86968" y="3767328"/>
            <a:ext cx="960120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3831336"/>
            <a:ext cx="813816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38BDF8"/>
                </a:solidFill>
                <a:latin typeface="Aptos"/>
              </a:rPr>
              <a:t>ESCAPE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6968" y="4224528"/>
            <a:ext cx="2926080" cy="38404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  <a:latin typeface="Aptos"/>
              </a:rPr>
              <a:t>Kaynak HTML çıktısı güvenli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53128" y="3566160"/>
            <a:ext cx="3429000" cy="1280160"/>
          </a:xfrm>
          <a:prstGeom prst="roundRect">
            <a:avLst/>
          </a:prstGeom>
          <a:solidFill>
            <a:srgbClr val="14345B"/>
          </a:solidFill>
          <a:ln w="12700">
            <a:solidFill>
              <a:srgbClr val="3157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654296" y="3767328"/>
            <a:ext cx="960120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27448" y="3831336"/>
            <a:ext cx="813816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38BDF8"/>
                </a:solidFill>
                <a:latin typeface="Aptos"/>
              </a:rPr>
              <a:t>HITL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54296" y="4224528"/>
            <a:ext cx="2926080" cy="38404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  <a:latin typeface="Aptos"/>
              </a:rPr>
              <a:t>MCP yazmasında operatör onayı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220456" y="3566160"/>
            <a:ext cx="3429000" cy="1280160"/>
          </a:xfrm>
          <a:prstGeom prst="roundRect">
            <a:avLst/>
          </a:prstGeom>
          <a:solidFill>
            <a:srgbClr val="14345B"/>
          </a:solidFill>
          <a:ln w="12700">
            <a:solidFill>
              <a:srgbClr val="3157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421624" y="3767328"/>
            <a:ext cx="960120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94776" y="3831336"/>
            <a:ext cx="813816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38BDF8"/>
                </a:solidFill>
                <a:latin typeface="Aptos"/>
              </a:rPr>
              <a:t>PATH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21624" y="4224528"/>
            <a:ext cx="2926080" cy="38404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  <a:latin typeface="Aptos"/>
              </a:rPr>
              <a:t>Manifest traversal engeli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" y="5532120"/>
            <a:ext cx="10012680" cy="3657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300" b="1">
                <a:solidFill>
                  <a:srgbClr val="F59E0B"/>
                </a:solidFill>
                <a:latin typeface="Aptos"/>
              </a:rPr>
              <a:t>Yerel audit hazır · Üretime geçişte: RBAC · merkezi aktarım · disk şifreleme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685800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50" b="1">
                <a:solidFill>
                  <a:srgbClr val="5F6B7A"/>
                </a:solidFill>
                <a:latin typeface="Aptos"/>
              </a:rPr>
              <a:t>CMS-RAG  /  GIT VE SÜRÜMLEME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18520" y="201168"/>
            <a:ext cx="59436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900" b="1">
                <a:solidFill>
                  <a:srgbClr val="0B1F3A"/>
                </a:solidFill>
                <a:latin typeface="Aptos"/>
              </a:rPr>
              <a:t>13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94360"/>
            <a:ext cx="11109960" cy="22860"/>
          </a:xfrm>
          <a:prstGeom prst="rect">
            <a:avLst/>
          </a:prstGeom>
          <a:solidFill>
            <a:srgbClr val="1B5F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749808"/>
            <a:ext cx="10789920" cy="5943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0B1F3A"/>
                </a:solidFill>
                <a:latin typeface="Aptos Display"/>
              </a:rPr>
              <a:t>Geçmiş korunur; değişiklikler kontrollü akar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984248"/>
            <a:ext cx="105156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B1F3A"/>
                </a:solidFill>
                <a:latin typeface="Aptos"/>
              </a:rPr>
              <a:t>main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737360" y="2103120"/>
            <a:ext cx="9418320" cy="0"/>
          </a:xfrm>
          <a:prstGeom prst="line">
            <a:avLst/>
          </a:prstGeom>
          <a:ln w="15240">
            <a:solidFill>
              <a:srgbClr val="C9D4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85800" y="2990088"/>
            <a:ext cx="105156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1B5FA7"/>
                </a:solidFill>
                <a:latin typeface="Aptos"/>
              </a:rPr>
              <a:t>develop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737360" y="3108960"/>
            <a:ext cx="9418320" cy="0"/>
          </a:xfrm>
          <a:prstGeom prst="line">
            <a:avLst/>
          </a:prstGeom>
          <a:ln w="15240">
            <a:solidFill>
              <a:srgbClr val="C9D4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3995928"/>
            <a:ext cx="105156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38BDF8"/>
                </a:solidFill>
                <a:latin typeface="Aptos"/>
              </a:rPr>
              <a:t>feature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737360" y="4114800"/>
            <a:ext cx="9418320" cy="0"/>
          </a:xfrm>
          <a:prstGeom prst="line">
            <a:avLst/>
          </a:prstGeom>
          <a:ln w="15240">
            <a:solidFill>
              <a:srgbClr val="C9D4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5001768"/>
            <a:ext cx="105156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F59E0B"/>
                </a:solidFill>
                <a:latin typeface="Aptos"/>
              </a:rPr>
              <a:t>release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737360" y="5120640"/>
            <a:ext cx="9418320" cy="0"/>
          </a:xfrm>
          <a:prstGeom prst="line">
            <a:avLst/>
          </a:prstGeom>
          <a:ln w="15240">
            <a:solidFill>
              <a:srgbClr val="C9D4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2194560" y="1956816"/>
            <a:ext cx="201168" cy="201168"/>
          </a:xfrm>
          <a:prstGeom prst="ellipse">
            <a:avLst/>
          </a:prstGeom>
          <a:solidFill>
            <a:srgbClr val="0B1F3A"/>
          </a:solidFill>
          <a:ln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828800" y="2240280"/>
            <a:ext cx="96012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0B1F3A"/>
                </a:solidFill>
                <a:latin typeface="Aptos"/>
              </a:rPr>
              <a:t>legacy</a:t>
            </a:r>
          </a:p>
        </p:txBody>
      </p:sp>
      <p:sp>
        <p:nvSpPr>
          <p:cNvPr id="16" name="Oval 15"/>
          <p:cNvSpPr/>
          <p:nvPr/>
        </p:nvSpPr>
        <p:spPr>
          <a:xfrm>
            <a:off x="3291840" y="2962656"/>
            <a:ext cx="201168" cy="201168"/>
          </a:xfrm>
          <a:prstGeom prst="ellipse">
            <a:avLst/>
          </a:prstGeom>
          <a:solidFill>
            <a:srgbClr val="1B5FA7"/>
          </a:solidFill>
          <a:ln>
            <a:solidFill>
              <a:srgbClr val="1B5F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26080" y="3246120"/>
            <a:ext cx="96012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1B5FA7"/>
                </a:solidFill>
                <a:latin typeface="Aptos"/>
              </a:rPr>
              <a:t>4dbf3f8</a:t>
            </a:r>
          </a:p>
        </p:txBody>
      </p:sp>
      <p:sp>
        <p:nvSpPr>
          <p:cNvPr id="18" name="Oval 17"/>
          <p:cNvSpPr/>
          <p:nvPr/>
        </p:nvSpPr>
        <p:spPr>
          <a:xfrm>
            <a:off x="4572000" y="3968496"/>
            <a:ext cx="201168" cy="201168"/>
          </a:xfrm>
          <a:prstGeom prst="ellipse">
            <a:avLst/>
          </a:prstGeom>
          <a:solidFill>
            <a:srgbClr val="38BDF8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06240" y="4251960"/>
            <a:ext cx="96012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38BDF8"/>
                </a:solidFill>
                <a:latin typeface="Aptos"/>
              </a:rPr>
              <a:t>43b38ae</a:t>
            </a:r>
          </a:p>
        </p:txBody>
      </p:sp>
      <p:sp>
        <p:nvSpPr>
          <p:cNvPr id="20" name="Oval 19"/>
          <p:cNvSpPr/>
          <p:nvPr/>
        </p:nvSpPr>
        <p:spPr>
          <a:xfrm>
            <a:off x="6217920" y="3968496"/>
            <a:ext cx="201168" cy="201168"/>
          </a:xfrm>
          <a:prstGeom prst="ellipse">
            <a:avLst/>
          </a:prstGeom>
          <a:solidFill>
            <a:srgbClr val="38BDF8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52159" y="4251960"/>
            <a:ext cx="96012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38BDF8"/>
                </a:solidFill>
                <a:latin typeface="Aptos"/>
              </a:rPr>
              <a:t>0e72e16</a:t>
            </a:r>
          </a:p>
        </p:txBody>
      </p:sp>
      <p:sp>
        <p:nvSpPr>
          <p:cNvPr id="22" name="Oval 21"/>
          <p:cNvSpPr/>
          <p:nvPr/>
        </p:nvSpPr>
        <p:spPr>
          <a:xfrm>
            <a:off x="7635240" y="2962656"/>
            <a:ext cx="201168" cy="201168"/>
          </a:xfrm>
          <a:prstGeom prst="ellipse">
            <a:avLst/>
          </a:prstGeom>
          <a:solidFill>
            <a:srgbClr val="1B5FA7"/>
          </a:solidFill>
          <a:ln>
            <a:solidFill>
              <a:srgbClr val="1B5F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69479" y="3246120"/>
            <a:ext cx="96012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1B5FA7"/>
                </a:solidFill>
                <a:latin typeface="Aptos"/>
              </a:rPr>
              <a:t>d022506</a:t>
            </a:r>
          </a:p>
        </p:txBody>
      </p:sp>
      <p:sp>
        <p:nvSpPr>
          <p:cNvPr id="24" name="Oval 23"/>
          <p:cNvSpPr/>
          <p:nvPr/>
        </p:nvSpPr>
        <p:spPr>
          <a:xfrm>
            <a:off x="9509760" y="4974336"/>
            <a:ext cx="201168" cy="201168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0" y="5257800"/>
            <a:ext cx="96012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F59E0B"/>
                </a:solidFill>
                <a:latin typeface="Aptos"/>
              </a:rPr>
              <a:t>release/*</a:t>
            </a:r>
          </a:p>
        </p:txBody>
      </p:sp>
      <p:sp>
        <p:nvSpPr>
          <p:cNvPr id="26" name="Oval 25"/>
          <p:cNvSpPr/>
          <p:nvPr/>
        </p:nvSpPr>
        <p:spPr>
          <a:xfrm>
            <a:off x="10652760" y="1956816"/>
            <a:ext cx="201168" cy="201168"/>
          </a:xfrm>
          <a:prstGeom prst="ellipse">
            <a:avLst/>
          </a:prstGeom>
          <a:solidFill>
            <a:srgbClr val="0B1F3A"/>
          </a:solidFill>
          <a:ln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287000" y="2240280"/>
            <a:ext cx="96012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0B1F3A"/>
                </a:solidFill>
                <a:latin typeface="Aptos"/>
              </a:rPr>
              <a:t>v1.x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3291840" y="3063240"/>
            <a:ext cx="1280160" cy="1005840"/>
          </a:xfrm>
          <a:prstGeom prst="line">
            <a:avLst/>
          </a:prstGeom>
          <a:ln w="1905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6318504" y="3063240"/>
            <a:ext cx="1316736" cy="1005840"/>
          </a:xfrm>
          <a:prstGeom prst="line">
            <a:avLst/>
          </a:prstGeom>
          <a:ln w="19050">
            <a:solidFill>
              <a:srgbClr val="1B5FA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7726679" y="3063240"/>
            <a:ext cx="1783081" cy="2011680"/>
          </a:xfrm>
          <a:prstGeom prst="line">
            <a:avLst/>
          </a:prstGeom>
          <a:ln w="1905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9601200" y="2057400"/>
            <a:ext cx="1051560" cy="3017520"/>
          </a:xfrm>
          <a:prstGeom prst="line">
            <a:avLst/>
          </a:prstGeom>
          <a:ln w="19050">
            <a:solidFill>
              <a:srgbClr val="0B1F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1828800" y="5806440"/>
            <a:ext cx="301752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50" b="1">
                <a:solidFill>
                  <a:srgbClr val="0B1F3A"/>
                </a:solidFill>
                <a:latin typeface="Aptos"/>
              </a:rPr>
              <a:t>main: yalnız yayımlanmış sürüm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63440" y="5806440"/>
            <a:ext cx="292608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50" b="1">
                <a:solidFill>
                  <a:srgbClr val="1B5FA7"/>
                </a:solidFill>
                <a:latin typeface="Aptos"/>
              </a:rPr>
              <a:t>develop: entegrasyon tabanı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89520" y="5806440"/>
            <a:ext cx="347472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50" b="1">
                <a:solidFill>
                  <a:srgbClr val="F59E0B"/>
                </a:solidFill>
                <a:latin typeface="Aptos"/>
              </a:rPr>
              <a:t>feature/release: inceleme + kabul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685800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50" b="1">
                <a:solidFill>
                  <a:srgbClr val="5F6B7A"/>
                </a:solidFill>
                <a:latin typeface="Aptos"/>
              </a:rPr>
              <a:t>CMS-RAG  /  ÇALIŞTIRMA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18520" y="201168"/>
            <a:ext cx="59436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900" b="1">
                <a:solidFill>
                  <a:srgbClr val="0B1F3A"/>
                </a:solidFill>
                <a:latin typeface="Aptos"/>
              </a:rPr>
              <a:t>14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94360"/>
            <a:ext cx="11109960" cy="22860"/>
          </a:xfrm>
          <a:prstGeom prst="rect">
            <a:avLst/>
          </a:prstGeom>
          <a:solidFill>
            <a:srgbClr val="1B5F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749808"/>
            <a:ext cx="10789920" cy="5943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0B1F3A"/>
                </a:solidFill>
                <a:latin typeface="Aptos Display"/>
              </a:rPr>
              <a:t>Yerel kurulum: iki servis, tek tarayıcı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74519"/>
            <a:ext cx="3429000" cy="2788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48840"/>
            <a:ext cx="59436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38BDF8"/>
                </a:solidFill>
                <a:latin typeface="Apto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670048"/>
            <a:ext cx="2880360" cy="38404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000" b="1">
                <a:solidFill>
                  <a:srgbClr val="0B1F3A"/>
                </a:solidFill>
                <a:latin typeface="Aptos"/>
              </a:rPr>
              <a:t>Python ortamı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6112" y="3310128"/>
            <a:ext cx="3017520" cy="1005840"/>
          </a:xfrm>
          <a:prstGeom prst="round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9848" y="3547872"/>
            <a:ext cx="2651760" cy="5943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919" b="0">
                <a:solidFill>
                  <a:srgbClr val="FFFFFF"/>
                </a:solidFill>
                <a:latin typeface="Cascadia Mono"/>
              </a:rPr>
              <a:t>python -m venv .venv
pip install -r requirements.txt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1874519"/>
            <a:ext cx="3429000" cy="2788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63440" y="2148840"/>
            <a:ext cx="59436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38BDF8"/>
                </a:solidFill>
                <a:latin typeface="Aptos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2670048"/>
            <a:ext cx="2880360" cy="38404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000" b="1">
                <a:solidFill>
                  <a:srgbClr val="0B1F3A"/>
                </a:solidFill>
                <a:latin typeface="Aptos"/>
              </a:rPr>
              <a:t>Yerel model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45152" y="3310128"/>
            <a:ext cx="3017520" cy="1005840"/>
          </a:xfrm>
          <a:prstGeom prst="round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18888" y="3547872"/>
            <a:ext cx="2651760" cy="5943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919" b="0">
                <a:solidFill>
                  <a:srgbClr val="FFFFFF"/>
                </a:solidFill>
                <a:latin typeface="Cascadia Mono"/>
              </a:rPr>
              <a:t>ollama pull qwen2.5:3b
ollama serve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83879" y="1874519"/>
            <a:ext cx="3429000" cy="2788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B5F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0" y="2148840"/>
            <a:ext cx="59436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38BDF8"/>
                </a:solidFill>
                <a:latin typeface="Aptos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2670048"/>
            <a:ext cx="2880360" cy="38404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000" b="1">
                <a:solidFill>
                  <a:srgbClr val="0B1F3A"/>
                </a:solidFill>
                <a:latin typeface="Aptos"/>
              </a:rPr>
              <a:t>Uygulama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394192" y="3310128"/>
            <a:ext cx="3017520" cy="1005840"/>
          </a:xfrm>
          <a:prstGeom prst="round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67928" y="3547872"/>
            <a:ext cx="2651760" cy="5943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919" b="0">
                <a:solidFill>
                  <a:srgbClr val="FFFFFF"/>
                </a:solidFill>
                <a:latin typeface="Cascadia Mono"/>
              </a:rPr>
              <a:t>python -m streamlit run app.py
localhost:8501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5102352"/>
            <a:ext cx="10927080" cy="713232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1B5F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5321808"/>
            <a:ext cx="420624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B5FA7"/>
                </a:solidFill>
                <a:latin typeface="Aptos"/>
              </a:rPr>
              <a:t>Offline mod  ·  $env:CMS_RAG_OFFLINE="1"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15000" y="5321808"/>
            <a:ext cx="525780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B5FA7"/>
                </a:solidFill>
                <a:latin typeface="Aptos"/>
              </a:rPr>
              <a:t>Kalite modu  ·  $env:CMS_RAG_MODEL="qwen2.5:7b"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685800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50" b="1">
                <a:solidFill>
                  <a:srgbClr val="5F6B7A"/>
                </a:solidFill>
                <a:latin typeface="Aptos"/>
              </a:rPr>
              <a:t>CMS-RAG  /  YOL HARITASI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18520" y="201168"/>
            <a:ext cx="59436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900" b="1">
                <a:solidFill>
                  <a:srgbClr val="0B1F3A"/>
                </a:solidFill>
                <a:latin typeface="Aptos"/>
              </a:rPr>
              <a:t>15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94360"/>
            <a:ext cx="11109960" cy="22860"/>
          </a:xfrm>
          <a:prstGeom prst="rect">
            <a:avLst/>
          </a:prstGeom>
          <a:solidFill>
            <a:srgbClr val="1B5F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749808"/>
            <a:ext cx="10789920" cy="5943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0B1F3A"/>
                </a:solidFill>
                <a:latin typeface="Aptos Display"/>
              </a:rPr>
              <a:t>MVP tamamlandı; kurumsal ölçek için sıradaki adımlar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28800"/>
            <a:ext cx="3429000" cy="3429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B5F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63040" y="2148840"/>
            <a:ext cx="1874519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36192" y="2212848"/>
            <a:ext cx="1728216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1B5FA7"/>
                </a:solidFill>
                <a:latin typeface="Aptos"/>
              </a:rPr>
              <a:t>YAKIN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880360"/>
            <a:ext cx="2606040" cy="15087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600" b="1">
                <a:solidFill>
                  <a:srgbClr val="0B1F3A"/>
                </a:solidFill>
                <a:latin typeface="Aptos"/>
              </a:rPr>
              <a:t>OCR
Kaynak drift kontrolü
CI kabul pipeline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39112" y="4617720"/>
            <a:ext cx="68580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1B5FA7"/>
                </a:solidFill>
                <a:latin typeface="Aptos"/>
              </a:rPr>
              <a:t>01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1828800"/>
            <a:ext cx="3429000" cy="3429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212079" y="2148840"/>
            <a:ext cx="1874519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85231" y="2212848"/>
            <a:ext cx="1728216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16A34A"/>
                </a:solidFill>
                <a:latin typeface="Aptos"/>
              </a:rPr>
              <a:t>ORTA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2880360"/>
            <a:ext cx="2606040" cy="15087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600" b="1">
                <a:solidFill>
                  <a:srgbClr val="0B1F3A"/>
                </a:solidFill>
                <a:latin typeface="Aptos"/>
              </a:rPr>
              <a:t>RBAC
Checkpoint saklama politikası
Kalite eğilim alarmı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88152" y="4617720"/>
            <a:ext cx="68580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16A34A"/>
                </a:solidFill>
                <a:latin typeface="Aptos"/>
              </a:rPr>
              <a:t>02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83879" y="1828800"/>
            <a:ext cx="3429000" cy="3429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961119" y="2148840"/>
            <a:ext cx="1874519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34272" y="2212848"/>
            <a:ext cx="1728216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F59E0B"/>
                </a:solidFill>
                <a:latin typeface="Aptos"/>
              </a:rPr>
              <a:t>UZUN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95359" y="2880360"/>
            <a:ext cx="2606040" cy="15087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600" b="1">
                <a:solidFill>
                  <a:srgbClr val="0B1F3A"/>
                </a:solidFill>
                <a:latin typeface="Aptos"/>
              </a:rPr>
              <a:t>Merkezi audit aktarımı
Çok modlu retrieval
Kurumsal gözlemlenebilirlik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37192" y="4617720"/>
            <a:ext cx="68580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F59E0B"/>
                </a:solidFill>
                <a:latin typeface="Aptos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57400" y="5715000"/>
            <a:ext cx="8092440" cy="3657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500" b="1">
                <a:solidFill>
                  <a:srgbClr val="1B5FA7"/>
                </a:solidFill>
                <a:latin typeface="Aptos"/>
              </a:rPr>
              <a:t>Öncelik: CI kalite kapısı + RBAC + kurumsal gözlemlenebilirlik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685800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50" b="1">
                <a:solidFill>
                  <a:srgbClr val="B8C7DC"/>
                </a:solidFill>
                <a:latin typeface="Aptos"/>
              </a:rPr>
              <a:t>CMS-RAG  /  CANLI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18520" y="201168"/>
            <a:ext cx="59436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900" b="1">
                <a:solidFill>
                  <a:srgbClr val="FFFFFF"/>
                </a:solidFill>
                <a:latin typeface="Aptos"/>
              </a:rPr>
              <a:t>16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94360"/>
            <a:ext cx="11109960" cy="2286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749808"/>
            <a:ext cx="10789920" cy="5943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ptos Display"/>
              </a:rPr>
              <a:t>5 adımda projenin bütün değerini göster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1353312"/>
            <a:ext cx="10424160" cy="41148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50" b="0">
                <a:solidFill>
                  <a:srgbClr val="CAD5E5"/>
                </a:solidFill>
                <a:latin typeface="Aptos"/>
              </a:rPr>
              <a:t>Toplam önerilen demo süresi: 3 dakika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057400"/>
            <a:ext cx="1993392" cy="2331720"/>
          </a:xfrm>
          <a:prstGeom prst="roundRect">
            <a:avLst/>
          </a:prstGeom>
          <a:solidFill>
            <a:srgbClr val="14345B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2313432"/>
            <a:ext cx="594360" cy="4572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2200" b="1">
                <a:solidFill>
                  <a:srgbClr val="38BDF8"/>
                </a:solidFill>
                <a:latin typeface="Aptos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2971800"/>
            <a:ext cx="1664208" cy="5943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ADVENT nedir?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60120" y="3794760"/>
            <a:ext cx="1444752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33272" y="3858768"/>
            <a:ext cx="1298448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38BDF8"/>
                </a:solidFill>
                <a:latin typeface="Aptos"/>
              </a:rPr>
              <a:t>RESMÎ KAYNAK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679192" y="3200400"/>
            <a:ext cx="274320" cy="0"/>
          </a:xfrm>
          <a:prstGeom prst="line">
            <a:avLst/>
          </a:prstGeom>
          <a:ln w="1778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953512" y="2057400"/>
            <a:ext cx="1993392" cy="2331720"/>
          </a:xfrm>
          <a:prstGeom prst="roundRect">
            <a:avLst/>
          </a:prstGeom>
          <a:solidFill>
            <a:srgbClr val="14345B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39312" y="2313432"/>
            <a:ext cx="594360" cy="4572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2200" b="1">
                <a:solidFill>
                  <a:srgbClr val="38BDF8"/>
                </a:solidFill>
                <a:latin typeface="Apto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18104" y="2971800"/>
            <a:ext cx="1664208" cy="5943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Örnekleri var mı?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27832" y="3794760"/>
            <a:ext cx="1444752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00984" y="3858768"/>
            <a:ext cx="1298448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38BDF8"/>
                </a:solidFill>
                <a:latin typeface="Aptos"/>
              </a:rPr>
              <a:t>TAKIP BAĞLAMI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946904" y="3200400"/>
            <a:ext cx="274320" cy="0"/>
          </a:xfrm>
          <a:prstGeom prst="line">
            <a:avLst/>
          </a:prstGeom>
          <a:ln w="1778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5221224" y="2057400"/>
            <a:ext cx="1993392" cy="2331720"/>
          </a:xfrm>
          <a:prstGeom prst="roundRect">
            <a:avLst/>
          </a:prstGeom>
          <a:solidFill>
            <a:srgbClr val="14345B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07024" y="2313432"/>
            <a:ext cx="594360" cy="4572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2200" b="1">
                <a:solidFill>
                  <a:srgbClr val="38BDF8"/>
                </a:solidFill>
                <a:latin typeface="Aptos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85816" y="2971800"/>
            <a:ext cx="1664208" cy="5943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Görevleri neler?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95544" y="3794760"/>
            <a:ext cx="1444752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68696" y="3858768"/>
            <a:ext cx="1298448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38BDF8"/>
                </a:solidFill>
                <a:latin typeface="Aptos"/>
              </a:rPr>
              <a:t>ÇOKLU KAYNAK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214616" y="3200400"/>
            <a:ext cx="274320" cy="0"/>
          </a:xfrm>
          <a:prstGeom prst="line">
            <a:avLst/>
          </a:prstGeom>
          <a:ln w="1778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488936" y="2057400"/>
            <a:ext cx="1993392" cy="2331720"/>
          </a:xfrm>
          <a:prstGeom prst="roundRect">
            <a:avLst/>
          </a:prstGeom>
          <a:solidFill>
            <a:srgbClr val="14345B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74736" y="2313432"/>
            <a:ext cx="594360" cy="4572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2200" b="1">
                <a:solidFill>
                  <a:srgbClr val="38BDF8"/>
                </a:solidFill>
                <a:latin typeface="Aptos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53527" y="2971800"/>
            <a:ext cx="1664208" cy="5943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NATO interoperability?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763256" y="3794760"/>
            <a:ext cx="1444752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836408" y="3858768"/>
            <a:ext cx="1298448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38BDF8"/>
                </a:solidFill>
                <a:latin typeface="Aptos"/>
              </a:rPr>
              <a:t>OPEN SOURCE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482328" y="3200400"/>
            <a:ext cx="274320" cy="0"/>
          </a:xfrm>
          <a:prstGeom prst="line">
            <a:avLst/>
          </a:prstGeom>
          <a:ln w="1778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9756648" y="2057400"/>
            <a:ext cx="1993392" cy="2331720"/>
          </a:xfrm>
          <a:prstGeom prst="roundRect">
            <a:avLst/>
          </a:prstGeom>
          <a:solidFill>
            <a:srgbClr val="14345B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442448" y="2313432"/>
            <a:ext cx="594360" cy="4572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2200" b="1">
                <a:solidFill>
                  <a:srgbClr val="F59E0B"/>
                </a:solidFill>
                <a:latin typeface="Aptos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921240" y="2971800"/>
            <a:ext cx="1664208" cy="5943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Ben kimim?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030968" y="3794760"/>
            <a:ext cx="1444752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104120" y="3858768"/>
            <a:ext cx="1298448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F59E0B"/>
                </a:solidFill>
                <a:latin typeface="Aptos"/>
              </a:rPr>
              <a:t>GÜVENLI RET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011680" y="5074920"/>
            <a:ext cx="8183879" cy="41148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ptos"/>
              </a:rPr>
              <a:t>Gösterilecek ana unsur: cevaptan önce kanıt paketi.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971800" y="5650992"/>
            <a:ext cx="626364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38BDF8"/>
                </a:solidFill>
                <a:latin typeface="Aptos"/>
              </a:rPr>
              <a:t>Belge · Sayfa · Otorite · Koleksiyon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685800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50" b="1">
                <a:solidFill>
                  <a:srgbClr val="B8C7DC"/>
                </a:solidFill>
                <a:latin typeface="Aptos"/>
              </a:rPr>
              <a:t>CMS-RAG  /  SONUÇ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18520" y="201168"/>
            <a:ext cx="59436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900" b="1">
                <a:solidFill>
                  <a:srgbClr val="FFFFFF"/>
                </a:solidFill>
                <a:latin typeface="Aptos"/>
              </a:rPr>
              <a:t>17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94360"/>
            <a:ext cx="11109960" cy="2286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143000"/>
            <a:ext cx="6675120" cy="56692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3100" b="1">
                <a:solidFill>
                  <a:srgbClr val="FFFFFF"/>
                </a:solidFill>
                <a:latin typeface="Aptos Display"/>
              </a:rPr>
              <a:t>CMS-RAG Assistant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920240"/>
            <a:ext cx="6583680" cy="11887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800" b="1">
                <a:solidFill>
                  <a:srgbClr val="38BDF8"/>
                </a:solidFill>
                <a:latin typeface="Aptos Display"/>
              </a:rPr>
              <a:t>Cevap üreten değil,
kanıt zinciri sunan asistan.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543800" y="1325880"/>
            <a:ext cx="3520440" cy="3520440"/>
          </a:xfrm>
          <a:prstGeom prst="roundRect">
            <a:avLst/>
          </a:prstGeom>
          <a:solidFill>
            <a:srgbClr val="14345B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909560" y="1691640"/>
            <a:ext cx="1051560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82712" y="1755648"/>
            <a:ext cx="905255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38BDF8"/>
                </a:solidFill>
                <a:latin typeface="Aptos"/>
              </a:rPr>
              <a:t>LOCAL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0" y="1746504"/>
            <a:ext cx="1508760" cy="219456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ptos"/>
              </a:rPr>
              <a:t>Veri gizliliği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09560" y="2404872"/>
            <a:ext cx="1051560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82712" y="2468879"/>
            <a:ext cx="905255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38BDF8"/>
                </a:solidFill>
                <a:latin typeface="Aptos"/>
              </a:rPr>
              <a:t>HYBRID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0" y="2459736"/>
            <a:ext cx="1508760" cy="219456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ptos"/>
              </a:rPr>
              <a:t>Yüksek retrieval kapsaması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09560" y="3118104"/>
            <a:ext cx="1051560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82712" y="3182112"/>
            <a:ext cx="905255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38BDF8"/>
                </a:solidFill>
                <a:latin typeface="Aptos"/>
              </a:rPr>
              <a:t>GROUNDED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0" y="3172968"/>
            <a:ext cx="1508760" cy="219456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ptos"/>
              </a:rPr>
              <a:t>Belge ve sayfa kanıtı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09560" y="3831335"/>
            <a:ext cx="1051560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82712" y="3895344"/>
            <a:ext cx="905255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38BDF8"/>
                </a:solidFill>
                <a:latin typeface="Aptos"/>
              </a:rPr>
              <a:t>TESTED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3886199"/>
            <a:ext cx="1508760" cy="219456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ptos"/>
              </a:rPr>
              <a:t>148/148 + 45/45 + 30/30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" y="4709160"/>
            <a:ext cx="4206240" cy="5029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Aptos"/>
              </a:rPr>
              <a:t>Sorularınız?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440680"/>
            <a:ext cx="411480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200" b="0">
                <a:solidFill>
                  <a:srgbClr val="9DB4D1"/>
                </a:solidFill>
                <a:latin typeface="Aptos"/>
              </a:rPr>
              <a:t>http://localhost:8501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43800" y="5623560"/>
            <a:ext cx="352044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9DB4D1"/>
                </a:solidFill>
                <a:latin typeface="Aptos"/>
              </a:rPr>
              <a:t>codex/pgvector-lineage · agentic final  ·  Sürüm 2.0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