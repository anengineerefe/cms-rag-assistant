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NIHAI PROJE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49377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Aptos"/>
              </a:rPr>
              <a:t>EVIDENCE-FIRST / LOCAL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36192"/>
            <a:ext cx="612648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tos Display"/>
              </a:rPr>
              <a:t>CMS-RAG
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46120"/>
            <a:ext cx="5303520" cy="8229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7D5E8"/>
                </a:solidFill>
                <a:latin typeface="Aptos"/>
              </a:rPr>
              <a:t>Savaş Yönetim Sistemi dokümanları için
kaynak kontrollü bilgi keşfi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46304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67335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1430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0" y="13533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SNAPSHOT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87000" y="27432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7000" y="29535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RRF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333756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54787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5720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47823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SOURCE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7882127" y="1472184"/>
            <a:ext cx="2103121" cy="32004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985248" y="1472184"/>
            <a:ext cx="868680" cy="160020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9025128" y="3072384"/>
            <a:ext cx="1828800" cy="59436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470648" y="3666744"/>
            <a:ext cx="1554480" cy="123444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144768"/>
            <a:ext cx="640080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FA8C8"/>
                </a:solidFill>
                <a:latin typeface="Aptos"/>
              </a:rPr>
              <a:t>Sürüm 2.0  ·  18.08.2026  ·  codex/pgvector-lineage · agentic 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YÖNETICI ÖZETI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Tek cümlede proje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Önceden hazırlanmış kamu bilgisini çevrimdışı, yerel ve kaynaklı cevaba dönüştürür.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145 / 145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OTOMATİK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920240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8 /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RETRIEVAL KABULÜ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52160" y="192024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5332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77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KANIT PARÇASI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58200" y="1920240"/>
            <a:ext cx="73152" cy="10515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5936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HTTP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CANLI SERVİS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429000"/>
            <a:ext cx="10927080" cy="201168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730752"/>
            <a:ext cx="21031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Aptos"/>
              </a:rPr>
              <a:t>Çözüm değeri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160520"/>
            <a:ext cx="6858000" cy="5029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Yanıt + belge + sayfa + otorite + koleksiyon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4800600"/>
            <a:ext cx="768096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C7D5E8"/>
                </a:solidFill>
                <a:latin typeface="Aptos"/>
              </a:rPr>
              <a:t>Kullanıcı model çıktısını yalnız okumaz; kanıtı açıp denetler.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58200" y="3749039"/>
            <a:ext cx="23774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31352" y="3813048"/>
            <a:ext cx="22311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ÇEVRIMDIŞI ÇALIŞMA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4343400"/>
            <a:ext cx="19202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59952" y="4407408"/>
            <a:ext cx="17739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HAZIR SNAPSHOT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4937760"/>
            <a:ext cx="19202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59952" y="5001768"/>
            <a:ext cx="17739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HIBRIT RETRIEVAL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Neden klasik arama veya yalnız LLM yetmiyor?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Dağınık bilgi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Broşür, ürün sayfası ve açık referanslar farklı yerlerde.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Bağlam kaybı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Anahtar kelime araması anlam yakınlığını kaçırabilir.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DC2626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Kaynaksız üretim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LLM, ürün yeteneği veya örnek uydurabilir.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892040"/>
            <a:ext cx="10927080" cy="777240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138928"/>
            <a:ext cx="103784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1B5FA7"/>
                </a:solidFill>
                <a:latin typeface="Aptos"/>
              </a:rPr>
              <a:t>Tasarım hedefi  →  Cevabı değil, cevabın kanıt zincirini güvenilir hâle getirmek.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KAYNAK GÜVENI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Kaynaklar birleşir; otoriteleri karışmaz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Her parça belge, sayfa, koleksiyon, otorite ve URL bilgisini korur.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217627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240279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OFFICIAL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084831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Resmî PDF + HAVELSAN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210312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Ürün ve ADVENT iddiaları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108960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6112" y="341071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474720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Aptos"/>
              </a:rPr>
              <a:t>OPEN 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319272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NATO kamu referansı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33756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Genel C2 ve birlikte çalışabilirlik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43400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" y="464515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4709160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553712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Birleşik görünüm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57200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Kaynak kimliği korunarak geniş araştırma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77724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B5FA7"/>
                </a:solidFill>
                <a:latin typeface="Aptos"/>
              </a:rPr>
              <a:t>Kapsam değiştiğinde konuşma belleği de ayrılır.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715000"/>
            <a:ext cx="420624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1200" b="1">
                <a:solidFill>
                  <a:srgbClr val="16A34A"/>
                </a:solidFill>
                <a:latin typeface="Aptos"/>
              </a:rPr>
              <a:t>→ ADVENT geçmişi NATO cevabını kirletemez.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MIMARI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Katmanlı ve testle korunan yapı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CAD5E5"/>
                </a:solidFill>
                <a:latin typeface="Aptos"/>
              </a:rPr>
              <a:t>Bağımlılık yönü yukarıdan aşağı; domain teknoloji bağımsızdır.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9847" y="1783080"/>
            <a:ext cx="4572000" cy="566928"/>
          </a:xfrm>
          <a:prstGeom prst="roundRect">
            <a:avLst/>
          </a:prstGeom>
          <a:solidFill>
            <a:srgbClr val="1A335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92727" y="192938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58687" y="1929384"/>
            <a:ext cx="22402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7 satırlık giriş noktası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5447" y="2560320"/>
            <a:ext cx="6400800" cy="566928"/>
          </a:xfrm>
          <a:prstGeom prst="roundRect">
            <a:avLst/>
          </a:prstGeom>
          <a:solidFill>
            <a:srgbClr val="16497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78327" y="270662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4287" y="2706624"/>
            <a:ext cx="40690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Streamlit · sohbet · sidebar · kanıt kartı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63927" y="3337560"/>
            <a:ext cx="7863840" cy="566928"/>
          </a:xfrm>
          <a:prstGeom prst="roundRect">
            <a:avLst/>
          </a:prstGeom>
          <a:solidFill>
            <a:srgbClr val="1B5FA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46807" y="348386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2767" y="3483864"/>
            <a:ext cx="5532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RAG kullanım senaryosu orkestrasyonu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78127" y="4114800"/>
            <a:ext cx="9235440" cy="566928"/>
          </a:xfrm>
          <a:prstGeom prst="roundRect">
            <a:avLst/>
          </a:prstGeom>
          <a:solidFill>
            <a:srgbClr val="237BB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61007" y="426110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domain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6967" y="4261104"/>
            <a:ext cx="69037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Modeller · sorgu kuralları · kanıt cevapları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3767" y="4892040"/>
            <a:ext cx="10424160" cy="566928"/>
          </a:xfrm>
          <a:prstGeom prst="roundRect">
            <a:avLst/>
          </a:prstGeom>
          <a:solidFill>
            <a:srgbClr val="2E93D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6647" y="503834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infrastructure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2607" y="5038344"/>
            <a:ext cx="80924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PDF · manifest · FAISS · BM25 · reranker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897880"/>
            <a:ext cx="3566160" cy="31089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38BDF8"/>
                </a:solidFill>
                <a:latin typeface="Aptos"/>
              </a:rPr>
              <a:t>ArchitectureGuardTests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6236208"/>
            <a:ext cx="594360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0">
                <a:solidFill>
                  <a:srgbClr val="9DB4D1"/>
                </a:solidFill>
                <a:latin typeface="Aptos"/>
              </a:rPr>
              <a:t>ince giriş · bağımlılık yönü · Türkçe açıklama standardı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BELGE YAŞAM DÖNGÜSÜ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Araştırmadan hazır yerel kanıta kadar izlenebilir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Araştır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Birincil kamu kaynağı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46960" y="2907791"/>
            <a:ext cx="137159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8412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384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384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Kürasyon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384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Kapsam + kaynak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90999" y="2907791"/>
            <a:ext cx="137161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2816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788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788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788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Metin çıkarılabilir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7220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Parçala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Sayfa + overlap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7908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016239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25967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5967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Embedding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5967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Önceden hesapla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72312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860279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70007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0007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Snapshot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0007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Manifest + vektör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4251960"/>
            <a:ext cx="5212080" cy="1115568"/>
          </a:xfrm>
          <a:prstGeom prst="roundRect">
            <a:avLst/>
          </a:prstGeom>
          <a:solidFill>
            <a:srgbClr val="EDF9F1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517136"/>
            <a:ext cx="16459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Aptos"/>
              </a:rPr>
              <a:t>Normal kullanım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4517136"/>
            <a:ext cx="3154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Hazır snapshot yüklenir · web erişimi yok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251960"/>
            <a:ext cx="5212080" cy="1115568"/>
          </a:xfrm>
          <a:prstGeom prst="roundRect">
            <a:avLst/>
          </a:prstGeom>
          <a:solidFill>
            <a:srgbClr val="FFF6E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517136"/>
            <a:ext cx="14630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ptos"/>
              </a:rPr>
              <a:t>Ek belge?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517136"/>
            <a:ext cx="3154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SHA-256 kontrolü · yalnız ek belge indekslenir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RAG HATTI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Hibrit retrieval: anlam + terim + yeniden sıralama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Soru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Türkçe doğal dil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83525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20685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0413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0413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Expand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0413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CMS sözlüğü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64131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01291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11019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1019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Semantic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1019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BGE + FAISS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244737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81897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91625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625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BM25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91625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Kesin terim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25342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62502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2230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2230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RRF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2230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Sıra füzyonu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05948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543108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52836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2836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Rerank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2836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Cross-encoder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986554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123714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33442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33442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Kanıt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33442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Sayfa birleştirme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251960"/>
            <a:ext cx="13716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B5FA7"/>
                </a:solidFill>
                <a:latin typeface="Aptos"/>
              </a:rPr>
              <a:t>Semantic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48840" y="4251960"/>
            <a:ext cx="38862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“Savaş gemisi” ↔ “surface platform” anlam yakınlığı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4818888"/>
            <a:ext cx="13716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Aptos"/>
              </a:rPr>
              <a:t>BM25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18888"/>
            <a:ext cx="38862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ADVENT · MÜREN · Link 11 · Link 16 kesin eşleşmesi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20840" y="4160520"/>
            <a:ext cx="4434840" cy="11430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0880" y="4407408"/>
            <a:ext cx="914400" cy="34747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RRF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2440" y="4425696"/>
            <a:ext cx="21945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1 / (60 + sıra)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59168" y="4892040"/>
            <a:ext cx="361188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0">
                <a:solidFill>
                  <a:srgbClr val="C7D5E8"/>
                </a:solidFill>
                <a:latin typeface="Aptos"/>
              </a:rPr>
              <a:t>Farklı puan ölçeklerini istikrarlı birleştirir.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CEVAP GÜVENILIRLIĞI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Model en son adım; karar zincirinin tamamı değil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İndeks var mı?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Yoksa yükleme yönlendirmesi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Alan içi mi?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064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Kişisel sohbet → güvenli ret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5904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51392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Kesin kanıt var mı?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1392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Deterministik kaynaklı cevap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Retrieval yeterli mi?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Kapsam filtreli adaylar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25696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8576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Ollama üretimi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064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≤55 kelime · düşük sıcaklık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4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5904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Apto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1392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Kaynak kontrolü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[SOURCE n] + kanıt kartı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715000"/>
            <a:ext cx="27432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  <a:latin typeface="Aptos"/>
              </a:rPr>
              <a:t>Servis hatası ≠ kanıt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715000"/>
            <a:ext cx="79095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Ollama erişilemiyorsa retrieval sonuçları kullanıcıya kaynak diye gösterilmez.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AGENTIC KALICILIK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Konuşma, kanıt ve bekleyen onay yeniden başlatmada korunur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4983480" cy="731520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84831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ADVENT nedir?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43200"/>
            <a:ext cx="4983480" cy="868680"/>
          </a:xfrm>
          <a:prstGeom prst="roundRect">
            <a:avLst/>
          </a:prstGeom>
          <a:solidFill>
            <a:srgbClr val="1B416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44368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Örnekleri var mı?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310128"/>
            <a:ext cx="192024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38BDF8"/>
                </a:solidFill>
                <a:latin typeface="Aptos"/>
              </a:rPr>
              <a:t>← aynı official geçmişi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94760"/>
            <a:ext cx="4983480" cy="868680"/>
          </a:xfrm>
          <a:prstGeom prst="roundRect">
            <a:avLst/>
          </a:prstGeom>
          <a:solidFill>
            <a:srgbClr val="174A46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05072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NATO interoperability?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4370832"/>
            <a:ext cx="219456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7EE2BA"/>
                </a:solidFill>
                <a:latin typeface="Aptos"/>
              </a:rPr>
              <a:t>← open_source: yeni bağlam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783080"/>
            <a:ext cx="73152" cy="3246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743200"/>
            <a:ext cx="731520" cy="7315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Aptos"/>
              </a:rPr>
              <a:t>SCOPE
WALL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965960"/>
            <a:ext cx="4160520" cy="1143000"/>
          </a:xfrm>
          <a:prstGeom prst="roundRect">
            <a:avLst/>
          </a:prstGeom>
          <a:solidFill>
            <a:srgbClr val="13335A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212848"/>
            <a:ext cx="35661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official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624328"/>
            <a:ext cx="356616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FC2DA"/>
                </a:solidFill>
                <a:latin typeface="Aptos"/>
              </a:rPr>
              <a:t>ADVENT ürün bağlamı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3456432"/>
            <a:ext cx="4160520" cy="1143000"/>
          </a:xfrm>
          <a:prstGeom prst="roundRect">
            <a:avLst/>
          </a:prstGeom>
          <a:solidFill>
            <a:srgbClr val="174A46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3703320"/>
            <a:ext cx="35661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open_source history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114800"/>
            <a:ext cx="356616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BDE7D5"/>
                </a:solidFill>
                <a:latin typeface="Aptos"/>
              </a:rPr>
              <a:t>NATO genel birlikte çalışabilirlik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5715000"/>
            <a:ext cx="795527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Aptos"/>
              </a:rPr>
              <a:t>PostgreSQL checkpoint · thread geri yükleme · MCP interrupt / resume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KULLANICI DENEYIMI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Arayüzün ana ürünü: görünür kanıt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108813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331720" cy="425196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38528"/>
            <a:ext cx="187451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◆ Knowledge Operations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606040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670048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KAPSAM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182112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3246120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PDF YÜKLE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3758184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822192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İNDEKSI YENILE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63440"/>
            <a:ext cx="1737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FC2DA"/>
                </a:solidFill>
                <a:latin typeface="Aptos"/>
              </a:rPr>
              <a:t>Model · qwen2.5:3b
Belge · 1
Arama · Hybrid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938528"/>
            <a:ext cx="438912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  <a:latin typeface="Aptos"/>
              </a:rPr>
              <a:t>Komuta Bilgi Keşfi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2697480"/>
            <a:ext cx="7680960" cy="566928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F3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2880360"/>
            <a:ext cx="704088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ADVENT nedir?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3456432"/>
            <a:ext cx="7680960" cy="960120"/>
          </a:xfrm>
          <a:prstGeom prst="roundRect">
            <a:avLst/>
          </a:prstGeom>
          <a:solidFill>
            <a:srgbClr val="F7FAFE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639312"/>
            <a:ext cx="182880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1B5FA7"/>
                </a:solidFill>
                <a:latin typeface="Aptos"/>
              </a:rPr>
              <a:t>KAYNAKLI YANIT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699516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172033"/>
                </a:solidFill>
                <a:latin typeface="Aptos"/>
              </a:rPr>
              <a:t>ADVENT, farklı operasyonel ortamlar için uyarlanabilen bir CMS ürün ailesidir [SOURCE 1].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617720"/>
            <a:ext cx="7223760" cy="594360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4760" y="4809744"/>
            <a:ext cx="6766560" cy="2103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B5FA7"/>
                </a:solidFill>
                <a:latin typeface="Aptos"/>
              </a:rPr>
              <a:t>Kanıt paketi · advent_cms.pdf · Sayfa 4 · official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532120"/>
            <a:ext cx="16459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6A34A"/>
                </a:solidFill>
                <a:latin typeface="Aptos"/>
              </a:rPr>
              <a:t>Akışlı yazım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532120"/>
            <a:ext cx="2103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B5FA7"/>
                </a:solidFill>
                <a:latin typeface="Aptos"/>
              </a:rPr>
              <a:t>Kalıcı kaynak kartı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5532120"/>
            <a:ext cx="1463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ptos"/>
              </a:rPr>
              <a:t>Güvenli ret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TEST VE KABUL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“Çalışıyor” değil; ölçülmüş ve yeniden üretilmiş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145 / 145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OTOMATİK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90672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90672" y="1828800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45 / 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ALTIN SET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22976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22976" y="182880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24144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30 /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LLM HAKEM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1828800"/>
            <a:ext cx="73152" cy="10515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0 /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20 VAKA FP / FN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33756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Storage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48840" y="3364991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48840" y="3364991"/>
            <a:ext cx="1853183" cy="164592"/>
          </a:xfrm>
          <a:prstGeom prst="rect">
            <a:avLst/>
          </a:prstGeom>
          <a:solidFill>
            <a:srgbClr val="1B5FA7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332841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386791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48840" y="3867912"/>
            <a:ext cx="6949440" cy="16459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383133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4340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UI + 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437083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48840" y="4370832"/>
            <a:ext cx="3938016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433425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84632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Eval + Audit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48840" y="487375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8840" y="4873752"/>
            <a:ext cx="440131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483717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4924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Architecture + KB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48840" y="537667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48840" y="5376672"/>
            <a:ext cx="1853183" cy="1645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5440" y="534009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21240" y="3310128"/>
            <a:ext cx="1417320" cy="22860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0" y="3657600"/>
            <a:ext cx="114300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38BDF8"/>
                </a:solidFill>
                <a:latin typeface="Aptos"/>
              </a:rPr>
              <a:t>GIT
ARCHIVE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4498848"/>
            <a:ext cx="1143000" cy="5486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Aptos"/>
              </a:rPr>
              <a:t>temiz kopyada
aynı sonuç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GÜVENLIK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Yerel çalışma + kontrollü kaynak + güvenli hata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86968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Belge metni bulut LLM'e gitmez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3128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54296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SHA-256 duplicate ve bütünlük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0456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21624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4776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1624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Koleksiyon ve geçmiş izolasyonu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86968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ESCAPE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Kaynak HTML çıktısı güvenli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3128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54296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27448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HITL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4296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MCP yazmasında operatör onayı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0456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21624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4776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1624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Manifest traversal engeli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532120"/>
            <a:ext cx="10012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Aptos"/>
              </a:rPr>
              <a:t>Yerel audit hazır · Üretime geçişte: RBAC · merkezi aktarım · disk şifreleme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GIT VE SÜRÜMLEME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Geçmiş korunur; değişiklikler kontrollü akar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8424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main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37360" y="210312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9008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develop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37360" y="310896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99592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Aptos"/>
              </a:rPr>
              <a:t>feature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37360" y="411480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500176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Aptos"/>
              </a:rPr>
              <a:t>release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37360" y="512064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194560" y="1956816"/>
            <a:ext cx="201168" cy="201168"/>
          </a:xfrm>
          <a:prstGeom prst="ellipse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224028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0B1F3A"/>
                </a:solidFill>
                <a:latin typeface="Aptos"/>
              </a:rPr>
              <a:t>legacy</a:t>
            </a:r>
          </a:p>
        </p:txBody>
      </p:sp>
      <p:sp>
        <p:nvSpPr>
          <p:cNvPr id="16" name="Oval 15"/>
          <p:cNvSpPr/>
          <p:nvPr/>
        </p:nvSpPr>
        <p:spPr>
          <a:xfrm>
            <a:off x="3291840" y="2962656"/>
            <a:ext cx="201168" cy="201168"/>
          </a:xfrm>
          <a:prstGeom prst="ellipse">
            <a:avLst/>
          </a:prstGeom>
          <a:solidFill>
            <a:srgbClr val="1B5FA7"/>
          </a:solidFill>
          <a:ln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324612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4dbf3f8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0" y="3968496"/>
            <a:ext cx="201168" cy="201168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425196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43b38ae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3968496"/>
            <a:ext cx="201168" cy="201168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59" y="425196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0e72e16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2962656"/>
            <a:ext cx="201168" cy="201168"/>
          </a:xfrm>
          <a:prstGeom prst="ellipse">
            <a:avLst/>
          </a:prstGeom>
          <a:solidFill>
            <a:srgbClr val="1B5FA7"/>
          </a:solidFill>
          <a:ln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324612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d022506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0" y="4974336"/>
            <a:ext cx="201168" cy="2011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525780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release/*</a:t>
            </a:r>
          </a:p>
        </p:txBody>
      </p:sp>
      <p:sp>
        <p:nvSpPr>
          <p:cNvPr id="26" name="Oval 25"/>
          <p:cNvSpPr/>
          <p:nvPr/>
        </p:nvSpPr>
        <p:spPr>
          <a:xfrm>
            <a:off x="10652760" y="1956816"/>
            <a:ext cx="201168" cy="201168"/>
          </a:xfrm>
          <a:prstGeom prst="ellipse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7000" y="224028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0B1F3A"/>
                </a:solidFill>
                <a:latin typeface="Aptos"/>
              </a:rPr>
              <a:t>v1.x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91840" y="3063240"/>
            <a:ext cx="1280160" cy="100584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318504" y="3063240"/>
            <a:ext cx="1316736" cy="1005840"/>
          </a:xfrm>
          <a:prstGeom prst="line">
            <a:avLst/>
          </a:prstGeom>
          <a:ln w="19050">
            <a:solidFill>
              <a:srgbClr val="1B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726679" y="3063240"/>
            <a:ext cx="1783081" cy="201168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601200" y="2057400"/>
            <a:ext cx="1051560" cy="3017520"/>
          </a:xfrm>
          <a:prstGeom prst="line">
            <a:avLst/>
          </a:prstGeom>
          <a:ln w="19050">
            <a:solidFill>
              <a:srgbClr val="0B1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828800" y="5806440"/>
            <a:ext cx="30175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0B1F3A"/>
                </a:solidFill>
                <a:latin typeface="Aptos"/>
              </a:rPr>
              <a:t>main: yalnız yayımlanmış sürüm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806440"/>
            <a:ext cx="292608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B5FA7"/>
                </a:solidFill>
                <a:latin typeface="Aptos"/>
              </a:rPr>
              <a:t>develop: entegrasyon tabanı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5806440"/>
            <a:ext cx="34747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F59E0B"/>
                </a:solidFill>
                <a:latin typeface="Aptos"/>
              </a:rPr>
              <a:t>feature/release: inceleme + kabul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ÇALIŞTIRMA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Yerel kurulum: iki servis, tek tarayıcı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Python ortamı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python -m venv .venv
pip install -r requirements.txt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Yerel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888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ollama pull qwen2.5:3b
ollama serve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Uygulama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9419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python -m streamlit run app.py
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02352"/>
            <a:ext cx="10927080" cy="713232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321808"/>
            <a:ext cx="42062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Offline mod  ·  $env:CMS_RAG_OFFLINE="1"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5321808"/>
            <a:ext cx="52578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Kalite modu  ·  $env:CMS_RAG_MODEL="qwen2.5:7b"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YOL HARITASI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MVP tamamlandı; kurumsal ölçek için sıradaki adımlar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63040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6192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YAKIN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OCR
Kaynak drift kontrolü
CI kabul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911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B5FA7"/>
                </a:solidFill>
                <a:latin typeface="Aptos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79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85231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Aptos"/>
              </a:rPr>
              <a:t>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RBAC
Checkpoint saklama politikası
Kalite eğilim alarmı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8815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61119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UZUN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59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Merkezi audit aktarımı
Çok modlu retrieval
Kurumsal gözlemlenebilirlik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19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5715000"/>
            <a:ext cx="809244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1B5FA7"/>
                </a:solidFill>
                <a:latin typeface="Aptos"/>
              </a:rPr>
              <a:t>Öncelik: CI kalite kapısı + RBAC + kurumsal gözlemlenebilirlik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CANLI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5 adımda projenin bütün değerini göster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CAD5E5"/>
                </a:solidFill>
                <a:latin typeface="Aptos"/>
              </a:rPr>
              <a:t>Toplam önerilen demo süresi: 3 dakika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ADVENT nedir?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RESMÎ KAYNAK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9192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53512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312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Örnekleri var mı?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27832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00984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TAKIP BAĞLAMI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46904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21224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07024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5816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Görevleri neler?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95544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8696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ÇOKLU KAYNAK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14616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88936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3527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NATO interoperability?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63256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36408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OPEN SOURCE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82328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756648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42448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pto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Ben kimim?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30968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04120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GÜVENLI RET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5074920"/>
            <a:ext cx="8183879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Gösterilecek ana unsur: cevaptan önce kanıt paketi.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5650992"/>
            <a:ext cx="626364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Aptos"/>
              </a:rPr>
              <a:t>Belge · Sayfa · Otorite · Koleksiyon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SONUÇ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6675120" cy="56692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CMS-RAG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6583680" cy="11887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8BDF8"/>
                </a:solidFill>
                <a:latin typeface="Aptos Display"/>
              </a:rPr>
              <a:t>Cevap üreten değil,
kanıt zinciri sunan asistan.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325880"/>
            <a:ext cx="3520440" cy="352044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691640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82712" y="1755648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746504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Veri gizliliği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2404872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2" y="2468879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HYBRID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59736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Yüksek retrieval kapsaması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118104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2712" y="3182112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GROUNDED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172968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Belge ve sayfa kanıtı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3831335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2712" y="3895344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886199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145/145 + 45/45 + 30/30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709160"/>
            <a:ext cx="4206240" cy="5029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"/>
              </a:rPr>
              <a:t>Sorularınız?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440680"/>
            <a:ext cx="411480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9DB4D1"/>
                </a:solidFill>
                <a:latin typeface="Aptos"/>
              </a:rPr>
              <a:t>http://localhost:8501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623560"/>
            <a:ext cx="35204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9DB4D1"/>
                </a:solidFill>
                <a:latin typeface="Aptos"/>
              </a:rPr>
              <a:t>codex/pgvector-lineage · agentic final  ·  Sürüm 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